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49" r:id="rId3"/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5E903A9-76B6-459B-BC47-0D7ACE27690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FD3A70-CF8F-4A12-B6F0-AC97A41049B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Object],[object Object]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A4289F-E9CE-4DF1-B57E-29EBE3A9E40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Object],[object Object]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67DFDB-38C4-40C5-BEAF-148C56AFC63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Object],[object Object]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88A77F-F3DC-4A22-A148-ED908F0E161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Object],[object Object]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777D75-7DC0-4BCC-B191-62899270611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Object],[object Object]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C996A3-0D27-4091-BD3C-0076580DFBB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Object],[object Object]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31AAE2-6DDC-4196-A0A9-A973359E5F6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Object],[object Object]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A4FE44-CB3A-4F3F-B85A-D9E067E6527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Object],[object Object]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08463E-07F1-4158-9009-2EC9513A44B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Object],[object Object]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44D24C9-13A3-4274-86EE-F25DA9B17D4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Object],[object Object]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4E34AF6-7222-459D-A7FC-97B34B271A0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Object],[object Object]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06C1BC-336F-4059-9817-B5A1D94EE42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[object Object],[object Object],[object Object],[object Object]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E84E0B-2278-4908-A953-7419F1CD71A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3317278-87AE-4423-9B71-4A58ED625D6F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4FF70CC-1D7D-4245-A964-DB577D61139F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F5197E3-2ADB-4041-82CD-69B64E9FB269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0"/>
            <a:ext cx="12191400" cy="118440"/>
          </a:xfrm>
          <a:prstGeom prst="rect">
            <a:avLst/>
          </a:prstGeom>
          <a:solidFill>
            <a:srgbClr val="193a5a"/>
          </a:solidFill>
          <a:ln w="12600">
            <a:solidFill>
              <a:srgbClr val="193a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" name="Text 1"/>
          <p:cNvSpPr/>
          <p:nvPr/>
        </p:nvSpPr>
        <p:spPr>
          <a:xfrm>
            <a:off x="502920" y="210240"/>
            <a:ext cx="6583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19" strike="noStrike" u="none">
                <a:solidFill>
                  <a:srgbClr val="5c6b7a"/>
                </a:solidFill>
                <a:effectLst/>
                <a:uFillTx/>
                <a:latin typeface="Arial"/>
                <a:ea typeface="Arial"/>
              </a:rPr>
              <a:t>HIT140 • GROUP 78 • FIFA WORLD CUP 2026 ANALYTICS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"/>
          </p:nvPr>
        </p:nvSpPr>
        <p:spPr>
          <a:xfrm>
            <a:off x="11475720" y="647388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8793a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D95B10-C8B9-46B6-B077-6E8F97919E89}" type="slidenum">
              <a:rPr b="0" lang="en-US" sz="800" strike="noStrike" u="none">
                <a:solidFill>
                  <a:srgbClr val="8793a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/>
          <p:cNvSpPr/>
          <p:nvPr/>
        </p:nvSpPr>
        <p:spPr>
          <a:xfrm>
            <a:off x="0" y="0"/>
            <a:ext cx="12191400" cy="118440"/>
          </a:xfrm>
          <a:prstGeom prst="rect">
            <a:avLst/>
          </a:prstGeom>
          <a:solidFill>
            <a:srgbClr val="d5a928"/>
          </a:solidFill>
          <a:ln w="12600">
            <a:solidFill>
              <a:srgbClr val="d5a9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Text 1"/>
          <p:cNvSpPr/>
          <p:nvPr/>
        </p:nvSpPr>
        <p:spPr>
          <a:xfrm>
            <a:off x="502920" y="21024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19" strike="noStrike" u="none">
                <a:solidFill>
                  <a:srgbClr val="c8d2dd"/>
                </a:solidFill>
                <a:effectLst/>
                <a:uFillTx/>
                <a:latin typeface="Arial"/>
                <a:ea typeface="Arial"/>
              </a:rPr>
              <a:t>HIT140 • GROUP 78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sldNum" idx="2"/>
          </p:nvPr>
        </p:nvSpPr>
        <p:spPr>
          <a:xfrm>
            <a:off x="11475720" y="647388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8b99aa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1C9B02-D619-4392-AA1C-5FDD2459938D}" type="slidenum">
              <a:rPr b="0" lang="en-US" sz="800" strike="noStrike" u="none">
                <a:solidFill>
                  <a:srgbClr val="8b99aa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  <p:sldLayoutId id="2147483653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0"/>
          <p:cNvSpPr/>
          <p:nvPr/>
        </p:nvSpPr>
        <p:spPr>
          <a:xfrm>
            <a:off x="685800" y="1051560"/>
            <a:ext cx="658332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FIFA World Cup 2026</a:t>
            </a:r>
            <a:endParaRPr b="0" lang="en-US" sz="3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Analytics</a:t>
            </a:r>
            <a:endParaRPr b="0" lang="en-US" sz="3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"/>
          <p:cNvSpPr/>
          <p:nvPr/>
        </p:nvSpPr>
        <p:spPr>
          <a:xfrm>
            <a:off x="713160" y="2615040"/>
            <a:ext cx="5851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c9d4e1"/>
                </a:solidFill>
                <a:effectLst/>
                <a:uFillTx/>
                <a:latin typeface="Arial"/>
                <a:ea typeface="Arial"/>
              </a:rPr>
              <a:t>Objective 1 • Four statistical investigations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2"/>
          <p:cNvSpPr/>
          <p:nvPr/>
        </p:nvSpPr>
        <p:spPr>
          <a:xfrm>
            <a:off x="713160" y="3182040"/>
            <a:ext cx="4708800" cy="1234080"/>
          </a:xfrm>
          <a:prstGeom prst="roundRect">
            <a:avLst>
              <a:gd name="adj" fmla="val 5926"/>
            </a:avLst>
          </a:prstGeom>
          <a:solidFill>
            <a:srgbClr val="16294d"/>
          </a:solidFill>
          <a:ln w="12600">
            <a:solidFill>
              <a:srgbClr val="2a42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3"/>
          <p:cNvSpPr/>
          <p:nvPr/>
        </p:nvSpPr>
        <p:spPr>
          <a:xfrm>
            <a:off x="932760" y="3474720"/>
            <a:ext cx="425160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92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From real World Cup data to evidence-based conclusions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4"/>
          <p:cNvSpPr/>
          <p:nvPr/>
        </p:nvSpPr>
        <p:spPr>
          <a:xfrm>
            <a:off x="7452360" y="960120"/>
            <a:ext cx="3977280" cy="4525920"/>
          </a:xfrm>
          <a:prstGeom prst="roundRect">
            <a:avLst>
              <a:gd name="adj" fmla="val 1379"/>
            </a:avLst>
          </a:prstGeom>
          <a:solidFill>
            <a:srgbClr val="122847"/>
          </a:solidFill>
          <a:ln w="15120">
            <a:solidFill>
              <a:srgbClr val="3653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5"/>
          <p:cNvSpPr/>
          <p:nvPr/>
        </p:nvSpPr>
        <p:spPr>
          <a:xfrm>
            <a:off x="7818120" y="1344240"/>
            <a:ext cx="3245760" cy="3245760"/>
          </a:xfrm>
          <a:prstGeom prst="rect">
            <a:avLst/>
          </a:prstGeom>
          <a:solidFill>
            <a:srgbClr val="17365e">
              <a:alpha val="85000"/>
            </a:srgbClr>
          </a:solidFill>
          <a:ln w="12600">
            <a:solidFill>
              <a:srgbClr val="89a0b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6"/>
          <p:cNvSpPr/>
          <p:nvPr/>
        </p:nvSpPr>
        <p:spPr>
          <a:xfrm>
            <a:off x="9445680" y="1343880"/>
            <a:ext cx="360" cy="3246120"/>
          </a:xfrm>
          <a:prstGeom prst="line">
            <a:avLst/>
          </a:prstGeom>
          <a:ln w="12600">
            <a:solidFill>
              <a:srgbClr val="89a0b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7"/>
          <p:cNvSpPr/>
          <p:nvPr/>
        </p:nvSpPr>
        <p:spPr>
          <a:xfrm>
            <a:off x="8942760" y="2423160"/>
            <a:ext cx="1005480" cy="1005480"/>
          </a:xfrm>
          <a:prstGeom prst="ellipse">
            <a:avLst/>
          </a:prstGeom>
          <a:noFill/>
          <a:ln w="12600">
            <a:solidFill>
              <a:srgbClr val="89a0b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8"/>
          <p:cNvSpPr/>
          <p:nvPr/>
        </p:nvSpPr>
        <p:spPr>
          <a:xfrm>
            <a:off x="8275320" y="3886200"/>
            <a:ext cx="155160" cy="155160"/>
          </a:xfrm>
          <a:prstGeom prst="ellipse">
            <a:avLst/>
          </a:prstGeom>
          <a:solidFill>
            <a:srgbClr val="2d5b9a"/>
          </a:solidFill>
          <a:ln w="7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9"/>
          <p:cNvSpPr/>
          <p:nvPr/>
        </p:nvSpPr>
        <p:spPr>
          <a:xfrm>
            <a:off x="8641080" y="3429000"/>
            <a:ext cx="155160" cy="155160"/>
          </a:xfrm>
          <a:prstGeom prst="ellipse">
            <a:avLst/>
          </a:prstGeom>
          <a:solidFill>
            <a:srgbClr val="c57733"/>
          </a:solidFill>
          <a:ln w="7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0"/>
          <p:cNvSpPr/>
          <p:nvPr/>
        </p:nvSpPr>
        <p:spPr>
          <a:xfrm>
            <a:off x="9189720" y="3703320"/>
            <a:ext cx="155160" cy="155160"/>
          </a:xfrm>
          <a:prstGeom prst="ellipse">
            <a:avLst/>
          </a:prstGeom>
          <a:solidFill>
            <a:srgbClr val="2d7a5d"/>
          </a:solidFill>
          <a:ln w="7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1"/>
          <p:cNvSpPr/>
          <p:nvPr/>
        </p:nvSpPr>
        <p:spPr>
          <a:xfrm>
            <a:off x="9875520" y="3063240"/>
            <a:ext cx="155160" cy="155160"/>
          </a:xfrm>
          <a:prstGeom prst="ellipse">
            <a:avLst/>
          </a:prstGeom>
          <a:solidFill>
            <a:srgbClr val="6a4c93"/>
          </a:solidFill>
          <a:ln w="7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2"/>
          <p:cNvSpPr/>
          <p:nvPr/>
        </p:nvSpPr>
        <p:spPr>
          <a:xfrm>
            <a:off x="10378440" y="2468880"/>
            <a:ext cx="155160" cy="155160"/>
          </a:xfrm>
          <a:prstGeom prst="ellipse">
            <a:avLst/>
          </a:prstGeom>
          <a:solidFill>
            <a:srgbClr val="d5a928"/>
          </a:solidFill>
          <a:ln w="7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3"/>
          <p:cNvSpPr/>
          <p:nvPr/>
        </p:nvSpPr>
        <p:spPr>
          <a:xfrm>
            <a:off x="8458200" y="2240280"/>
            <a:ext cx="155160" cy="155160"/>
          </a:xfrm>
          <a:prstGeom prst="ellipse">
            <a:avLst/>
          </a:prstGeom>
          <a:solidFill>
            <a:srgbClr val="1f6e67"/>
          </a:solidFill>
          <a:ln w="7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4"/>
          <p:cNvSpPr/>
          <p:nvPr/>
        </p:nvSpPr>
        <p:spPr>
          <a:xfrm flipV="1">
            <a:off x="8339040" y="3502080"/>
            <a:ext cx="365760" cy="393120"/>
          </a:xfrm>
          <a:prstGeom prst="line">
            <a:avLst/>
          </a:prstGeom>
          <a:ln w="19080">
            <a:solidFill>
              <a:srgbClr val="8ea7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5"/>
          <p:cNvSpPr/>
          <p:nvPr/>
        </p:nvSpPr>
        <p:spPr>
          <a:xfrm>
            <a:off x="8704800" y="3474720"/>
            <a:ext cx="530640" cy="255960"/>
          </a:xfrm>
          <a:prstGeom prst="line">
            <a:avLst/>
          </a:prstGeom>
          <a:ln w="19080">
            <a:solidFill>
              <a:srgbClr val="8ea7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6"/>
          <p:cNvSpPr/>
          <p:nvPr/>
        </p:nvSpPr>
        <p:spPr>
          <a:xfrm flipV="1">
            <a:off x="9253440" y="3126960"/>
            <a:ext cx="685800" cy="585360"/>
          </a:xfrm>
          <a:prstGeom prst="line">
            <a:avLst/>
          </a:prstGeom>
          <a:ln w="19080">
            <a:solidFill>
              <a:srgbClr val="8ea7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7"/>
          <p:cNvSpPr/>
          <p:nvPr/>
        </p:nvSpPr>
        <p:spPr>
          <a:xfrm flipV="1">
            <a:off x="9930240" y="2541960"/>
            <a:ext cx="502920" cy="530280"/>
          </a:xfrm>
          <a:prstGeom prst="line">
            <a:avLst/>
          </a:prstGeom>
          <a:ln w="19080">
            <a:solidFill>
              <a:srgbClr val="8ea7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8"/>
          <p:cNvSpPr/>
          <p:nvPr/>
        </p:nvSpPr>
        <p:spPr>
          <a:xfrm>
            <a:off x="713160" y="571500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d5a928"/>
                </a:solidFill>
                <a:effectLst/>
                <a:uFillTx/>
                <a:latin typeface="Arial"/>
                <a:ea typeface="Arial"/>
              </a:rPr>
              <a:t>HIT140 Foundations of Data Science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9"/>
          <p:cNvSpPr/>
          <p:nvPr/>
        </p:nvSpPr>
        <p:spPr>
          <a:xfrm>
            <a:off x="713160" y="6053400"/>
            <a:ext cx="8320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b8c6d6"/>
                </a:solidFill>
                <a:effectLst/>
                <a:uFillTx/>
                <a:latin typeface="Arial"/>
                <a:ea typeface="Arial"/>
              </a:rPr>
              <a:t>Group 78 • Nabin Thapa • KB Bohora • Suman • Prabin Shrestha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sldNum" idx="6"/>
          </p:nvPr>
        </p:nvSpPr>
        <p:spPr>
          <a:xfrm>
            <a:off x="11475720" y="647388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8b99aa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D4EA18-D664-40D4-BDE4-1D13E3E497FA}" type="slidenum">
              <a:rPr b="0" lang="en-US" sz="800" strike="noStrike" u="none">
                <a:solidFill>
                  <a:srgbClr val="8b99aa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0"/>
          <p:cNvSpPr/>
          <p:nvPr/>
        </p:nvSpPr>
        <p:spPr>
          <a:xfrm>
            <a:off x="502920" y="567000"/>
            <a:ext cx="7954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Four questions, one analytical framework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"/>
          <p:cNvSpPr/>
          <p:nvPr/>
        </p:nvSpPr>
        <p:spPr>
          <a:xfrm>
            <a:off x="502920" y="1143000"/>
            <a:ext cx="959760" cy="54360"/>
          </a:xfrm>
          <a:prstGeom prst="rect">
            <a:avLst/>
          </a:prstGeom>
          <a:solidFill>
            <a:srgbClr val="193a5a"/>
          </a:solidFill>
          <a:ln w="12600">
            <a:solidFill>
              <a:srgbClr val="193a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"/>
          <p:cNvSpPr/>
          <p:nvPr/>
        </p:nvSpPr>
        <p:spPr>
          <a:xfrm>
            <a:off x="1572840" y="1042560"/>
            <a:ext cx="9692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Each task has a distinct football performance focal point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3"/>
          <p:cNvSpPr/>
          <p:nvPr/>
        </p:nvSpPr>
        <p:spPr>
          <a:xfrm>
            <a:off x="640080" y="1508760"/>
            <a:ext cx="10881000" cy="86832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60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4"/>
          <p:cNvSpPr/>
          <p:nvPr/>
        </p:nvSpPr>
        <p:spPr>
          <a:xfrm>
            <a:off x="804600" y="1673280"/>
            <a:ext cx="594000" cy="529920"/>
          </a:xfrm>
          <a:prstGeom prst="roundRect">
            <a:avLst>
              <a:gd name="adj" fmla="val 13793"/>
            </a:avLst>
          </a:prstGeom>
          <a:solidFill>
            <a:srgbClr val="2d5b9a"/>
          </a:solidFill>
          <a:ln w="12600">
            <a:solidFill>
              <a:srgbClr val="2d5b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5"/>
          <p:cNvSpPr/>
          <p:nvPr/>
        </p:nvSpPr>
        <p:spPr>
          <a:xfrm>
            <a:off x="868680" y="1801440"/>
            <a:ext cx="456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01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6"/>
          <p:cNvSpPr/>
          <p:nvPr/>
        </p:nvSpPr>
        <p:spPr>
          <a:xfrm>
            <a:off x="1627560" y="1645920"/>
            <a:ext cx="3017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Shooting efficiency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7"/>
          <p:cNvSpPr/>
          <p:nvPr/>
        </p:nvSpPr>
        <p:spPr>
          <a:xfrm>
            <a:off x="1627560" y="1956960"/>
            <a:ext cx="713196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Is the average Goals ÷ Expected Goals ratio different from 1.0?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8"/>
          <p:cNvSpPr/>
          <p:nvPr/>
        </p:nvSpPr>
        <p:spPr>
          <a:xfrm>
            <a:off x="9144000" y="181980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d5b9a"/>
                </a:solidFill>
                <a:effectLst/>
                <a:uFillTx/>
                <a:latin typeface="Arial"/>
                <a:ea typeface="Arial"/>
              </a:rPr>
              <a:t>Nabin Thapa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9"/>
          <p:cNvSpPr/>
          <p:nvPr/>
        </p:nvSpPr>
        <p:spPr>
          <a:xfrm>
            <a:off x="640080" y="2651760"/>
            <a:ext cx="10881000" cy="86832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60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0"/>
          <p:cNvSpPr/>
          <p:nvPr/>
        </p:nvSpPr>
        <p:spPr>
          <a:xfrm>
            <a:off x="804600" y="2816280"/>
            <a:ext cx="594000" cy="529920"/>
          </a:xfrm>
          <a:prstGeom prst="roundRect">
            <a:avLst>
              <a:gd name="adj" fmla="val 13793"/>
            </a:avLst>
          </a:prstGeom>
          <a:solidFill>
            <a:srgbClr val="c57733"/>
          </a:solidFill>
          <a:ln w="12600">
            <a:solidFill>
              <a:srgbClr val="c577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1"/>
          <p:cNvSpPr/>
          <p:nvPr/>
        </p:nvSpPr>
        <p:spPr>
          <a:xfrm>
            <a:off x="868680" y="2944440"/>
            <a:ext cx="456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02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2"/>
          <p:cNvSpPr/>
          <p:nvPr/>
        </p:nvSpPr>
        <p:spPr>
          <a:xfrm>
            <a:off x="1627560" y="2788920"/>
            <a:ext cx="3017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Disciplinary record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3"/>
          <p:cNvSpPr/>
          <p:nvPr/>
        </p:nvSpPr>
        <p:spPr>
          <a:xfrm>
            <a:off x="1627560" y="3099960"/>
            <a:ext cx="713196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Do midfielders commit more fouls per 90 than defenders?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4"/>
          <p:cNvSpPr/>
          <p:nvPr/>
        </p:nvSpPr>
        <p:spPr>
          <a:xfrm>
            <a:off x="9144000" y="296280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c57733"/>
                </a:solidFill>
                <a:effectLst/>
                <a:uFillTx/>
                <a:latin typeface="Arial"/>
                <a:ea typeface="Arial"/>
              </a:rPr>
              <a:t>KB Bohora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5"/>
          <p:cNvSpPr/>
          <p:nvPr/>
        </p:nvSpPr>
        <p:spPr>
          <a:xfrm>
            <a:off x="640080" y="3794760"/>
            <a:ext cx="10881000" cy="86832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60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6"/>
          <p:cNvSpPr/>
          <p:nvPr/>
        </p:nvSpPr>
        <p:spPr>
          <a:xfrm>
            <a:off x="804600" y="3959280"/>
            <a:ext cx="594000" cy="529920"/>
          </a:xfrm>
          <a:prstGeom prst="roundRect">
            <a:avLst>
              <a:gd name="adj" fmla="val 13793"/>
            </a:avLst>
          </a:prstGeom>
          <a:solidFill>
            <a:srgbClr val="2d7a5d"/>
          </a:solidFill>
          <a:ln w="12600">
            <a:solidFill>
              <a:srgbClr val="2d7a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7"/>
          <p:cNvSpPr/>
          <p:nvPr/>
        </p:nvSpPr>
        <p:spPr>
          <a:xfrm>
            <a:off x="868680" y="4087440"/>
            <a:ext cx="456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03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8"/>
          <p:cNvSpPr/>
          <p:nvPr/>
        </p:nvSpPr>
        <p:spPr>
          <a:xfrm>
            <a:off x="1627560" y="3931920"/>
            <a:ext cx="3017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Goalkeeper save percentage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9"/>
          <p:cNvSpPr/>
          <p:nvPr/>
        </p:nvSpPr>
        <p:spPr>
          <a:xfrm>
            <a:off x="1627560" y="4242960"/>
            <a:ext cx="713196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Is average squad save percentage different from 85%?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0"/>
          <p:cNvSpPr/>
          <p:nvPr/>
        </p:nvSpPr>
        <p:spPr>
          <a:xfrm>
            <a:off x="9144000" y="410580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d7a5d"/>
                </a:solidFill>
                <a:effectLst/>
                <a:uFillTx/>
                <a:latin typeface="Arial"/>
                <a:ea typeface="Arial"/>
              </a:rPr>
              <a:t>Suman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21"/>
          <p:cNvSpPr/>
          <p:nvPr/>
        </p:nvSpPr>
        <p:spPr>
          <a:xfrm>
            <a:off x="640080" y="4937760"/>
            <a:ext cx="10881000" cy="86832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60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22"/>
          <p:cNvSpPr/>
          <p:nvPr/>
        </p:nvSpPr>
        <p:spPr>
          <a:xfrm>
            <a:off x="804600" y="5102280"/>
            <a:ext cx="594000" cy="529920"/>
          </a:xfrm>
          <a:prstGeom prst="roundRect">
            <a:avLst>
              <a:gd name="adj" fmla="val 13793"/>
            </a:avLst>
          </a:prstGeom>
          <a:solidFill>
            <a:srgbClr val="6a4c93"/>
          </a:solidFill>
          <a:ln w="12600">
            <a:solidFill>
              <a:srgbClr val="6a4c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3"/>
          <p:cNvSpPr/>
          <p:nvPr/>
        </p:nvSpPr>
        <p:spPr>
          <a:xfrm>
            <a:off x="868680" y="5230440"/>
            <a:ext cx="456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04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4"/>
          <p:cNvSpPr/>
          <p:nvPr/>
        </p:nvSpPr>
        <p:spPr>
          <a:xfrm>
            <a:off x="1627560" y="5074920"/>
            <a:ext cx="3017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Passing accuracy by position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5"/>
          <p:cNvSpPr/>
          <p:nvPr/>
        </p:nvSpPr>
        <p:spPr>
          <a:xfrm>
            <a:off x="1627560" y="5385960"/>
            <a:ext cx="713196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Do defenders have higher average passing accuracy than midfielders?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26"/>
          <p:cNvSpPr/>
          <p:nvPr/>
        </p:nvSpPr>
        <p:spPr>
          <a:xfrm>
            <a:off x="9144000" y="524880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6a4c93"/>
                </a:solidFill>
                <a:effectLst/>
                <a:uFillTx/>
                <a:latin typeface="Arial"/>
                <a:ea typeface="Arial"/>
              </a:rPr>
              <a:t>Prabin Shrestha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1"/>
          <p:cNvSpPr>
            <a:spLocks noGrp="1"/>
          </p:cNvSpPr>
          <p:nvPr>
            <p:ph type="sldNum" idx="7"/>
          </p:nvPr>
        </p:nvSpPr>
        <p:spPr>
          <a:xfrm>
            <a:off x="11475720" y="647388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8793a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783C72-A89B-429D-AE47-B6289F3153EB}" type="slidenum">
              <a:rPr b="0" lang="en-US" sz="800" strike="noStrike" u="none">
                <a:solidFill>
                  <a:srgbClr val="8793a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0"/>
          <p:cNvSpPr/>
          <p:nvPr/>
        </p:nvSpPr>
        <p:spPr>
          <a:xfrm>
            <a:off x="502920" y="567000"/>
            <a:ext cx="7954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Shared workflow &amp; reproducibility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"/>
          <p:cNvSpPr/>
          <p:nvPr/>
        </p:nvSpPr>
        <p:spPr>
          <a:xfrm>
            <a:off x="502920" y="1143000"/>
            <a:ext cx="959760" cy="54360"/>
          </a:xfrm>
          <a:prstGeom prst="rect">
            <a:avLst/>
          </a:prstGeom>
          <a:solidFill>
            <a:srgbClr val="1f6e67"/>
          </a:solidFill>
          <a:ln w="12600">
            <a:solidFill>
              <a:srgbClr val="1f6e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"/>
          <p:cNvSpPr/>
          <p:nvPr/>
        </p:nvSpPr>
        <p:spPr>
          <a:xfrm>
            <a:off x="1572840" y="1042560"/>
            <a:ext cx="9692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A consistent process across all four tasks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3"/>
          <p:cNvSpPr/>
          <p:nvPr/>
        </p:nvSpPr>
        <p:spPr>
          <a:xfrm>
            <a:off x="658440" y="1828800"/>
            <a:ext cx="529920" cy="529920"/>
          </a:xfrm>
          <a:prstGeom prst="ellipse">
            <a:avLst/>
          </a:prstGeom>
          <a:solidFill>
            <a:srgbClr val="1f6e67"/>
          </a:solidFill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4"/>
          <p:cNvSpPr/>
          <p:nvPr/>
        </p:nvSpPr>
        <p:spPr>
          <a:xfrm>
            <a:off x="795600" y="1974960"/>
            <a:ext cx="255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5"/>
          <p:cNvSpPr/>
          <p:nvPr/>
        </p:nvSpPr>
        <p:spPr>
          <a:xfrm>
            <a:off x="1206720" y="2093760"/>
            <a:ext cx="1262160" cy="360"/>
          </a:xfrm>
          <a:prstGeom prst="line">
            <a:avLst/>
          </a:prstGeom>
          <a:ln w="25560">
            <a:solidFill>
              <a:srgbClr val="b8c4c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6"/>
          <p:cNvSpPr/>
          <p:nvPr/>
        </p:nvSpPr>
        <p:spPr>
          <a:xfrm>
            <a:off x="567000" y="2541960"/>
            <a:ext cx="73116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Collect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7"/>
          <p:cNvSpPr/>
          <p:nvPr/>
        </p:nvSpPr>
        <p:spPr>
          <a:xfrm>
            <a:off x="274320" y="2834640"/>
            <a:ext cx="13255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FIFA / FBref data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8"/>
          <p:cNvSpPr/>
          <p:nvPr/>
        </p:nvSpPr>
        <p:spPr>
          <a:xfrm>
            <a:off x="2532960" y="1828800"/>
            <a:ext cx="529920" cy="529920"/>
          </a:xfrm>
          <a:prstGeom prst="ellipse">
            <a:avLst/>
          </a:prstGeom>
          <a:solidFill>
            <a:srgbClr val="1f6e67"/>
          </a:solidFill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9"/>
          <p:cNvSpPr/>
          <p:nvPr/>
        </p:nvSpPr>
        <p:spPr>
          <a:xfrm>
            <a:off x="2670120" y="1974960"/>
            <a:ext cx="255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10"/>
          <p:cNvSpPr/>
          <p:nvPr/>
        </p:nvSpPr>
        <p:spPr>
          <a:xfrm>
            <a:off x="3081240" y="2093760"/>
            <a:ext cx="1262160" cy="360"/>
          </a:xfrm>
          <a:prstGeom prst="line">
            <a:avLst/>
          </a:prstGeom>
          <a:ln w="25560">
            <a:solidFill>
              <a:srgbClr val="b8c4c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1"/>
          <p:cNvSpPr/>
          <p:nvPr/>
        </p:nvSpPr>
        <p:spPr>
          <a:xfrm>
            <a:off x="2441520" y="2541960"/>
            <a:ext cx="73116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Wrangle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2"/>
          <p:cNvSpPr/>
          <p:nvPr/>
        </p:nvSpPr>
        <p:spPr>
          <a:xfrm>
            <a:off x="2148840" y="2834640"/>
            <a:ext cx="13255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Clean, filter, validate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3"/>
          <p:cNvSpPr/>
          <p:nvPr/>
        </p:nvSpPr>
        <p:spPr>
          <a:xfrm>
            <a:off x="4407480" y="1828800"/>
            <a:ext cx="529920" cy="529920"/>
          </a:xfrm>
          <a:prstGeom prst="ellipse">
            <a:avLst/>
          </a:prstGeom>
          <a:solidFill>
            <a:srgbClr val="1f6e67"/>
          </a:solidFill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4"/>
          <p:cNvSpPr/>
          <p:nvPr/>
        </p:nvSpPr>
        <p:spPr>
          <a:xfrm>
            <a:off x="4544640" y="1974960"/>
            <a:ext cx="255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5"/>
          <p:cNvSpPr/>
          <p:nvPr/>
        </p:nvSpPr>
        <p:spPr>
          <a:xfrm>
            <a:off x="4955760" y="2093760"/>
            <a:ext cx="1262160" cy="360"/>
          </a:xfrm>
          <a:prstGeom prst="line">
            <a:avLst/>
          </a:prstGeom>
          <a:ln w="25560">
            <a:solidFill>
              <a:srgbClr val="b8c4c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6"/>
          <p:cNvSpPr/>
          <p:nvPr/>
        </p:nvSpPr>
        <p:spPr>
          <a:xfrm>
            <a:off x="4316040" y="2541960"/>
            <a:ext cx="73116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Sample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7"/>
          <p:cNvSpPr/>
          <p:nvPr/>
        </p:nvSpPr>
        <p:spPr>
          <a:xfrm>
            <a:off x="4023360" y="2834640"/>
            <a:ext cx="13255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Define population &amp; sample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8"/>
          <p:cNvSpPr/>
          <p:nvPr/>
        </p:nvSpPr>
        <p:spPr>
          <a:xfrm>
            <a:off x="6282000" y="1828800"/>
            <a:ext cx="529920" cy="529920"/>
          </a:xfrm>
          <a:prstGeom prst="ellipse">
            <a:avLst/>
          </a:prstGeom>
          <a:solidFill>
            <a:srgbClr val="1f6e67"/>
          </a:solidFill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9"/>
          <p:cNvSpPr/>
          <p:nvPr/>
        </p:nvSpPr>
        <p:spPr>
          <a:xfrm>
            <a:off x="6419160" y="1974960"/>
            <a:ext cx="255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20"/>
          <p:cNvSpPr/>
          <p:nvPr/>
        </p:nvSpPr>
        <p:spPr>
          <a:xfrm>
            <a:off x="6830280" y="2093760"/>
            <a:ext cx="1262160" cy="360"/>
          </a:xfrm>
          <a:prstGeom prst="line">
            <a:avLst/>
          </a:prstGeom>
          <a:ln w="25560">
            <a:solidFill>
              <a:srgbClr val="b8c4c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1"/>
          <p:cNvSpPr/>
          <p:nvPr/>
        </p:nvSpPr>
        <p:spPr>
          <a:xfrm>
            <a:off x="6190560" y="2541960"/>
            <a:ext cx="73116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Describe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22"/>
          <p:cNvSpPr/>
          <p:nvPr/>
        </p:nvSpPr>
        <p:spPr>
          <a:xfrm>
            <a:off x="5897880" y="2834640"/>
            <a:ext cx="13255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Mean, median, spread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23"/>
          <p:cNvSpPr/>
          <p:nvPr/>
        </p:nvSpPr>
        <p:spPr>
          <a:xfrm>
            <a:off x="8156520" y="1828800"/>
            <a:ext cx="529920" cy="529920"/>
          </a:xfrm>
          <a:prstGeom prst="ellipse">
            <a:avLst/>
          </a:prstGeom>
          <a:solidFill>
            <a:srgbClr val="1f6e67"/>
          </a:solidFill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4"/>
          <p:cNvSpPr/>
          <p:nvPr/>
        </p:nvSpPr>
        <p:spPr>
          <a:xfrm>
            <a:off x="8293680" y="1974960"/>
            <a:ext cx="255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5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25"/>
          <p:cNvSpPr/>
          <p:nvPr/>
        </p:nvSpPr>
        <p:spPr>
          <a:xfrm>
            <a:off x="8704800" y="2093760"/>
            <a:ext cx="1262160" cy="360"/>
          </a:xfrm>
          <a:prstGeom prst="line">
            <a:avLst/>
          </a:prstGeom>
          <a:ln w="25560">
            <a:solidFill>
              <a:srgbClr val="b8c4c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6"/>
          <p:cNvSpPr/>
          <p:nvPr/>
        </p:nvSpPr>
        <p:spPr>
          <a:xfrm>
            <a:off x="8065080" y="2541960"/>
            <a:ext cx="73116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Infer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7"/>
          <p:cNvSpPr/>
          <p:nvPr/>
        </p:nvSpPr>
        <p:spPr>
          <a:xfrm>
            <a:off x="7772400" y="2834640"/>
            <a:ext cx="13255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95% CI + t-test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28"/>
          <p:cNvSpPr/>
          <p:nvPr/>
        </p:nvSpPr>
        <p:spPr>
          <a:xfrm>
            <a:off x="10031040" y="1828800"/>
            <a:ext cx="529920" cy="529920"/>
          </a:xfrm>
          <a:prstGeom prst="ellipse">
            <a:avLst/>
          </a:prstGeom>
          <a:solidFill>
            <a:srgbClr val="d5a928"/>
          </a:solidFill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9"/>
          <p:cNvSpPr/>
          <p:nvPr/>
        </p:nvSpPr>
        <p:spPr>
          <a:xfrm>
            <a:off x="10168200" y="1974960"/>
            <a:ext cx="255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6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30"/>
          <p:cNvSpPr/>
          <p:nvPr/>
        </p:nvSpPr>
        <p:spPr>
          <a:xfrm>
            <a:off x="9939600" y="2541960"/>
            <a:ext cx="73116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Reproduce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31"/>
          <p:cNvSpPr/>
          <p:nvPr/>
        </p:nvSpPr>
        <p:spPr>
          <a:xfrm>
            <a:off x="9646920" y="2834640"/>
            <a:ext cx="13255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Python + GitHub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32"/>
          <p:cNvSpPr/>
          <p:nvPr/>
        </p:nvSpPr>
        <p:spPr>
          <a:xfrm>
            <a:off x="777240" y="3794760"/>
            <a:ext cx="5211720" cy="1481040"/>
          </a:xfrm>
          <a:prstGeom prst="roundRect">
            <a:avLst>
              <a:gd name="adj" fmla="val 3704"/>
            </a:avLst>
          </a:prstGeom>
          <a:solidFill>
            <a:srgbClr val="e9f0fb"/>
          </a:solidFill>
          <a:ln w="12600">
            <a:solidFill>
              <a:srgbClr val="e9f0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3"/>
          <p:cNvSpPr/>
          <p:nvPr/>
        </p:nvSpPr>
        <p:spPr>
          <a:xfrm>
            <a:off x="987480" y="4041720"/>
            <a:ext cx="1645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93a5a"/>
                </a:solidFill>
                <a:effectLst/>
                <a:uFillTx/>
                <a:latin typeface="Arial"/>
                <a:ea typeface="Arial"/>
              </a:rPr>
              <a:t>Why Python?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34"/>
          <p:cNvSpPr/>
          <p:nvPr/>
        </p:nvSpPr>
        <p:spPr>
          <a:xfrm>
            <a:off x="987480" y="4443840"/>
            <a:ext cx="44802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Repeatable sampling, transparent calculations, confidence intervals, t-tests and visualisations.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35"/>
          <p:cNvSpPr/>
          <p:nvPr/>
        </p:nvSpPr>
        <p:spPr>
          <a:xfrm>
            <a:off x="6199560" y="3794760"/>
            <a:ext cx="5211720" cy="1481040"/>
          </a:xfrm>
          <a:prstGeom prst="roundRect">
            <a:avLst>
              <a:gd name="adj" fmla="val 3704"/>
            </a:avLst>
          </a:prstGeom>
          <a:solidFill>
            <a:srgbClr val="e9f5ef"/>
          </a:solidFill>
          <a:ln w="12600">
            <a:solidFill>
              <a:srgbClr val="e9f5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36"/>
          <p:cNvSpPr/>
          <p:nvPr/>
        </p:nvSpPr>
        <p:spPr>
          <a:xfrm>
            <a:off x="6419160" y="404172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2d7a5d"/>
                </a:solidFill>
                <a:effectLst/>
                <a:uFillTx/>
                <a:latin typeface="Arial"/>
                <a:ea typeface="Arial"/>
              </a:rPr>
              <a:t>Why GitHub?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37"/>
          <p:cNvSpPr/>
          <p:nvPr/>
        </p:nvSpPr>
        <p:spPr>
          <a:xfrm>
            <a:off x="6419160" y="4443840"/>
            <a:ext cx="44802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Group repository keeps code and analysis files together so the workflow can be reviewed and reproduced.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38"/>
          <p:cNvSpPr/>
          <p:nvPr/>
        </p:nvSpPr>
        <p:spPr>
          <a:xfrm>
            <a:off x="777240" y="5715000"/>
            <a:ext cx="5851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Core tools: pandas • NumPy • SciPy • Matplotlib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1"/>
          <p:cNvSpPr>
            <a:spLocks noGrp="1"/>
          </p:cNvSpPr>
          <p:nvPr>
            <p:ph type="sldNum" idx="8"/>
          </p:nvPr>
        </p:nvSpPr>
        <p:spPr>
          <a:xfrm>
            <a:off x="11475720" y="647388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8793a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FBD50B-E289-4B2C-9E16-8C3278D522D4}" type="slidenum">
              <a:rPr b="0" lang="en-US" sz="800" strike="noStrike" u="none">
                <a:solidFill>
                  <a:srgbClr val="8793a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 0"/>
          <p:cNvSpPr/>
          <p:nvPr/>
        </p:nvSpPr>
        <p:spPr>
          <a:xfrm>
            <a:off x="502920" y="567000"/>
            <a:ext cx="7954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Task 1 — Shooting efficiency vs. expected goals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"/>
          <p:cNvSpPr/>
          <p:nvPr/>
        </p:nvSpPr>
        <p:spPr>
          <a:xfrm>
            <a:off x="502920" y="1143000"/>
            <a:ext cx="959760" cy="54360"/>
          </a:xfrm>
          <a:prstGeom prst="rect">
            <a:avLst/>
          </a:prstGeom>
          <a:solidFill>
            <a:srgbClr val="2d5b9a"/>
          </a:solidFill>
          <a:ln w="12600">
            <a:solidFill>
              <a:srgbClr val="2d5b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"/>
          <p:cNvSpPr/>
          <p:nvPr/>
        </p:nvSpPr>
        <p:spPr>
          <a:xfrm>
            <a:off x="1572840" y="1042560"/>
            <a:ext cx="9692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Did players finish as well as their chances predicted?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3"/>
          <p:cNvSpPr/>
          <p:nvPr/>
        </p:nvSpPr>
        <p:spPr>
          <a:xfrm>
            <a:off x="9555480" y="511920"/>
            <a:ext cx="2102760" cy="529920"/>
          </a:xfrm>
          <a:prstGeom prst="roundRect">
            <a:avLst>
              <a:gd name="adj" fmla="val 13793"/>
            </a:avLst>
          </a:prstGeom>
          <a:solidFill>
            <a:srgbClr val="2d5b9a"/>
          </a:solidFill>
          <a:ln w="12600">
            <a:solidFill>
              <a:srgbClr val="2d5b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4"/>
          <p:cNvSpPr/>
          <p:nvPr/>
        </p:nvSpPr>
        <p:spPr>
          <a:xfrm>
            <a:off x="9674280" y="603360"/>
            <a:ext cx="18741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TASK 1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Nabin Thapa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5"/>
          <p:cNvSpPr/>
          <p:nvPr/>
        </p:nvSpPr>
        <p:spPr>
          <a:xfrm>
            <a:off x="685800" y="1508760"/>
            <a:ext cx="5577480" cy="438876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600">
            <a:solidFill>
              <a:srgbClr val="d8e0e8"/>
            </a:solidFill>
            <a:round/>
          </a:ln>
          <a:effectLst>
            <a:outerShdw dist="50402" dir="2700000" blurRad="19080" rotWithShape="0">
              <a:srgbClr val="b8c1c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6"/>
          <p:cNvSpPr/>
          <p:nvPr/>
        </p:nvSpPr>
        <p:spPr>
          <a:xfrm>
            <a:off x="932760" y="178308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d5b9a"/>
                </a:solidFill>
                <a:effectLst/>
                <a:uFillTx/>
                <a:latin typeface="Arial"/>
                <a:ea typeface="Arial"/>
              </a:rPr>
              <a:t>Analytic question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7"/>
          <p:cNvSpPr/>
          <p:nvPr/>
        </p:nvSpPr>
        <p:spPr>
          <a:xfrm>
            <a:off x="932760" y="2176200"/>
            <a:ext cx="4754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Is the average Goals ÷ Expected Goals ratio different from 1.0?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8"/>
          <p:cNvSpPr/>
          <p:nvPr/>
        </p:nvSpPr>
        <p:spPr>
          <a:xfrm>
            <a:off x="932760" y="3108960"/>
            <a:ext cx="1645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Interpretation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9"/>
          <p:cNvSpPr/>
          <p:nvPr/>
        </p:nvSpPr>
        <p:spPr>
          <a:xfrm>
            <a:off x="932760" y="3438000"/>
            <a:ext cx="47545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1.0 means goals scored match expected goals. Values above 1.0 indicate over-performance; below 1.0 indicate under-performance.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0"/>
          <p:cNvSpPr/>
          <p:nvPr/>
        </p:nvSpPr>
        <p:spPr>
          <a:xfrm>
            <a:off x="932760" y="4407480"/>
            <a:ext cx="1645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Data &amp; sample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1"/>
          <p:cNvSpPr/>
          <p:nvPr/>
        </p:nvSpPr>
        <p:spPr>
          <a:xfrm>
            <a:off x="932760" y="4690800"/>
            <a:ext cx="4708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marL="177840" indent="-177840" defTabSz="914400">
              <a:lnSpc>
                <a:spcPct val="100000"/>
              </a:lnSpc>
              <a:buClr>
                <a:srgbClr val="1e2b36"/>
              </a:buClr>
              <a:buFont typeface="Symbol" charset="2"/>
              <a:buChar char=""/>
            </a:pPr>
            <a:r>
              <a:rPr b="0" lang="en-US" sz="112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FIFA official World Cup 2026 attacking statistics</a:t>
            </a:r>
            <a:endParaRPr b="0" lang="en-US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e2b36"/>
              </a:buClr>
              <a:buFont typeface="Symbol" charset="2"/>
              <a:buChar char=""/>
            </a:pPr>
            <a:r>
              <a:rPr b="0" lang="en-US" sz="112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Population: 88 players</a:t>
            </a:r>
            <a:endParaRPr b="0" lang="en-US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e2b36"/>
              </a:buClr>
              <a:buFont typeface="Symbol" charset="2"/>
              <a:buChar char=""/>
            </a:pPr>
            <a:r>
              <a:rPr b="0" lang="en-US" sz="112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Random sample: 30 players</a:t>
            </a:r>
            <a:endParaRPr b="0" lang="en-US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2"/>
          <p:cNvSpPr/>
          <p:nvPr/>
        </p:nvSpPr>
        <p:spPr>
          <a:xfrm>
            <a:off x="6629400" y="1691640"/>
            <a:ext cx="2148480" cy="1234080"/>
          </a:xfrm>
          <a:prstGeom prst="roundRect">
            <a:avLst>
              <a:gd name="adj" fmla="val 4444"/>
            </a:avLst>
          </a:prstGeom>
          <a:solidFill>
            <a:srgbClr val="e9f0fb"/>
          </a:solidFill>
          <a:ln w="12600">
            <a:solidFill>
              <a:srgbClr val="e9f0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3"/>
          <p:cNvSpPr/>
          <p:nvPr/>
        </p:nvSpPr>
        <p:spPr>
          <a:xfrm>
            <a:off x="6775560" y="1810440"/>
            <a:ext cx="18558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99" strike="noStrike" u="none">
                <a:solidFill>
                  <a:srgbClr val="2d5b9a"/>
                </a:solidFill>
                <a:effectLst/>
                <a:uFillTx/>
                <a:latin typeface="Arial"/>
                <a:ea typeface="Arial"/>
              </a:rPr>
              <a:t>POPULATION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4"/>
          <p:cNvSpPr/>
          <p:nvPr/>
        </p:nvSpPr>
        <p:spPr>
          <a:xfrm>
            <a:off x="6775560" y="2057400"/>
            <a:ext cx="1855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88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5"/>
          <p:cNvSpPr/>
          <p:nvPr/>
        </p:nvSpPr>
        <p:spPr>
          <a:xfrm>
            <a:off x="6775560" y="2642760"/>
            <a:ext cx="1855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players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6"/>
          <p:cNvSpPr/>
          <p:nvPr/>
        </p:nvSpPr>
        <p:spPr>
          <a:xfrm>
            <a:off x="9034200" y="1691640"/>
            <a:ext cx="2148480" cy="1234080"/>
          </a:xfrm>
          <a:prstGeom prst="roundRect">
            <a:avLst>
              <a:gd name="adj" fmla="val 4444"/>
            </a:avLst>
          </a:prstGeom>
          <a:solidFill>
            <a:srgbClr val="e9f0fb"/>
          </a:solidFill>
          <a:ln w="12600">
            <a:solidFill>
              <a:srgbClr val="e9f0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7"/>
          <p:cNvSpPr/>
          <p:nvPr/>
        </p:nvSpPr>
        <p:spPr>
          <a:xfrm>
            <a:off x="9180720" y="1810440"/>
            <a:ext cx="18558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99" strike="noStrike" u="none">
                <a:solidFill>
                  <a:srgbClr val="2d5b9a"/>
                </a:solidFill>
                <a:effectLst/>
                <a:uFillTx/>
                <a:latin typeface="Arial"/>
                <a:ea typeface="Arial"/>
              </a:rPr>
              <a:t>SAMPLE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8"/>
          <p:cNvSpPr/>
          <p:nvPr/>
        </p:nvSpPr>
        <p:spPr>
          <a:xfrm>
            <a:off x="9180720" y="2057400"/>
            <a:ext cx="1855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30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9"/>
          <p:cNvSpPr/>
          <p:nvPr/>
        </p:nvSpPr>
        <p:spPr>
          <a:xfrm>
            <a:off x="9180720" y="2642760"/>
            <a:ext cx="1855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randomly selected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20"/>
          <p:cNvSpPr/>
          <p:nvPr/>
        </p:nvSpPr>
        <p:spPr>
          <a:xfrm>
            <a:off x="6629400" y="3246120"/>
            <a:ext cx="4553280" cy="2331360"/>
          </a:xfrm>
          <a:prstGeom prst="roundRect">
            <a:avLst>
              <a:gd name="adj" fmla="val 2353"/>
            </a:avLst>
          </a:prstGeom>
          <a:solidFill>
            <a:srgbClr val="e9f0fb"/>
          </a:solidFill>
          <a:ln w="12600">
            <a:solidFill>
              <a:srgbClr val="e9f0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21"/>
          <p:cNvSpPr/>
          <p:nvPr/>
        </p:nvSpPr>
        <p:spPr>
          <a:xfrm>
            <a:off x="6903720" y="354780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93a5a"/>
                </a:solidFill>
                <a:effectLst/>
                <a:uFillTx/>
                <a:latin typeface="Arial"/>
                <a:ea typeface="Arial"/>
              </a:rPr>
              <a:t>A better finishing metric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2"/>
          <p:cNvSpPr/>
          <p:nvPr/>
        </p:nvSpPr>
        <p:spPr>
          <a:xfrm>
            <a:off x="6903720" y="4041720"/>
            <a:ext cx="37486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Using Goals ÷ Expected Goals accounts for chance quality rather than relying only on a raw conversion percentage.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1"/>
          <p:cNvSpPr>
            <a:spLocks noGrp="1"/>
          </p:cNvSpPr>
          <p:nvPr>
            <p:ph type="sldNum" idx="9"/>
          </p:nvPr>
        </p:nvSpPr>
        <p:spPr>
          <a:xfrm>
            <a:off x="11475720" y="647388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8793a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E2F062-83D0-43F0-AC0D-B9104748F635}" type="slidenum">
              <a:rPr b="0" lang="en-US" sz="800" strike="noStrike" u="none">
                <a:solidFill>
                  <a:srgbClr val="8793a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 0"/>
          <p:cNvSpPr/>
          <p:nvPr/>
        </p:nvSpPr>
        <p:spPr>
          <a:xfrm>
            <a:off x="502920" y="567000"/>
            <a:ext cx="7954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Task 1 — Statistical result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1"/>
          <p:cNvSpPr/>
          <p:nvPr/>
        </p:nvSpPr>
        <p:spPr>
          <a:xfrm>
            <a:off x="502920" y="1143000"/>
            <a:ext cx="959760" cy="54360"/>
          </a:xfrm>
          <a:prstGeom prst="rect">
            <a:avLst/>
          </a:prstGeom>
          <a:solidFill>
            <a:srgbClr val="2d5b9a"/>
          </a:solidFill>
          <a:ln w="12600">
            <a:solidFill>
              <a:srgbClr val="2d5b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2"/>
          <p:cNvSpPr/>
          <p:nvPr/>
        </p:nvSpPr>
        <p:spPr>
          <a:xfrm>
            <a:off x="1572840" y="1042560"/>
            <a:ext cx="9692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Original Python-generated distribution retained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3"/>
          <p:cNvSpPr/>
          <p:nvPr/>
        </p:nvSpPr>
        <p:spPr>
          <a:xfrm>
            <a:off x="9555480" y="511920"/>
            <a:ext cx="2102760" cy="529920"/>
          </a:xfrm>
          <a:prstGeom prst="roundRect">
            <a:avLst>
              <a:gd name="adj" fmla="val 13793"/>
            </a:avLst>
          </a:prstGeom>
          <a:solidFill>
            <a:srgbClr val="2d5b9a"/>
          </a:solidFill>
          <a:ln w="12600">
            <a:solidFill>
              <a:srgbClr val="2d5b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4"/>
          <p:cNvSpPr/>
          <p:nvPr/>
        </p:nvSpPr>
        <p:spPr>
          <a:xfrm>
            <a:off x="9674280" y="603360"/>
            <a:ext cx="18741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TASK 1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Nabin Thapa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5"/>
          <p:cNvSpPr/>
          <p:nvPr/>
        </p:nvSpPr>
        <p:spPr>
          <a:xfrm>
            <a:off x="685800" y="1508760"/>
            <a:ext cx="2331360" cy="1234080"/>
          </a:xfrm>
          <a:prstGeom prst="roundRect">
            <a:avLst>
              <a:gd name="adj" fmla="val 4444"/>
            </a:avLst>
          </a:prstGeom>
          <a:solidFill>
            <a:srgbClr val="e9f0fb"/>
          </a:solidFill>
          <a:ln w="12600">
            <a:solidFill>
              <a:srgbClr val="e9f0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6"/>
          <p:cNvSpPr/>
          <p:nvPr/>
        </p:nvSpPr>
        <p:spPr>
          <a:xfrm>
            <a:off x="831960" y="1627560"/>
            <a:ext cx="2038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99" strike="noStrike" u="none">
                <a:solidFill>
                  <a:srgbClr val="2d5b9a"/>
                </a:solidFill>
                <a:effectLst/>
                <a:uFillTx/>
                <a:latin typeface="Arial"/>
                <a:ea typeface="Arial"/>
              </a:rPr>
              <a:t>95% CI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7"/>
          <p:cNvSpPr/>
          <p:nvPr/>
        </p:nvSpPr>
        <p:spPr>
          <a:xfrm>
            <a:off x="831960" y="1874520"/>
            <a:ext cx="2038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0.78–3.56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8"/>
          <p:cNvSpPr/>
          <p:nvPr/>
        </p:nvSpPr>
        <p:spPr>
          <a:xfrm>
            <a:off x="831960" y="2459880"/>
            <a:ext cx="2038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Goals ÷ xG ratio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9"/>
          <p:cNvSpPr/>
          <p:nvPr/>
        </p:nvSpPr>
        <p:spPr>
          <a:xfrm>
            <a:off x="3273480" y="1508760"/>
            <a:ext cx="2057040" cy="1234080"/>
          </a:xfrm>
          <a:prstGeom prst="roundRect">
            <a:avLst>
              <a:gd name="adj" fmla="val 4444"/>
            </a:avLst>
          </a:prstGeom>
          <a:solidFill>
            <a:srgbClr val="e9f0fb"/>
          </a:solidFill>
          <a:ln w="12600">
            <a:solidFill>
              <a:srgbClr val="e9f0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0"/>
          <p:cNvSpPr/>
          <p:nvPr/>
        </p:nvSpPr>
        <p:spPr>
          <a:xfrm>
            <a:off x="3420000" y="1627560"/>
            <a:ext cx="1764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99" strike="noStrike" u="none">
                <a:solidFill>
                  <a:srgbClr val="2d5b9a"/>
                </a:solidFill>
                <a:effectLst/>
                <a:uFillTx/>
                <a:latin typeface="Arial"/>
                <a:ea typeface="Arial"/>
              </a:rPr>
              <a:t>P-VALUE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1"/>
          <p:cNvSpPr/>
          <p:nvPr/>
        </p:nvSpPr>
        <p:spPr>
          <a:xfrm>
            <a:off x="3420000" y="1874520"/>
            <a:ext cx="1764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0.096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2"/>
          <p:cNvSpPr/>
          <p:nvPr/>
        </p:nvSpPr>
        <p:spPr>
          <a:xfrm>
            <a:off x="3420000" y="2459880"/>
            <a:ext cx="1764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one-sample t-test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3"/>
          <p:cNvSpPr/>
          <p:nvPr/>
        </p:nvSpPr>
        <p:spPr>
          <a:xfrm>
            <a:off x="5632560" y="1783080"/>
            <a:ext cx="2422800" cy="383760"/>
          </a:xfrm>
          <a:prstGeom prst="roundRect">
            <a:avLst>
              <a:gd name="adj" fmla="val 19048"/>
            </a:avLst>
          </a:prstGeom>
          <a:solidFill>
            <a:srgbClr val="fbf4dd"/>
          </a:solidFill>
          <a:ln w="12600">
            <a:solidFill>
              <a:srgbClr val="fbf4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4"/>
          <p:cNvSpPr/>
          <p:nvPr/>
        </p:nvSpPr>
        <p:spPr>
          <a:xfrm>
            <a:off x="5742360" y="1883520"/>
            <a:ext cx="2203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a66f00"/>
                </a:solidFill>
                <a:effectLst/>
                <a:uFillTx/>
                <a:latin typeface="Arial"/>
                <a:ea typeface="Arial"/>
              </a:rPr>
              <a:t>FAIL TO REJECT H₀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5"/>
          <p:cNvSpPr/>
          <p:nvPr/>
        </p:nvSpPr>
        <p:spPr>
          <a:xfrm>
            <a:off x="685800" y="2971800"/>
            <a:ext cx="6811920" cy="315432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60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7" name="Image 0" descr="/mnt/data/task1_original_python_histogram.png"/>
          <p:cNvPicPr/>
          <p:nvPr/>
        </p:nvPicPr>
        <p:blipFill>
          <a:blip r:embed="rId1"/>
          <a:stretch/>
        </p:blipFill>
        <p:spPr>
          <a:xfrm>
            <a:off x="2114640" y="3136320"/>
            <a:ext cx="3953880" cy="254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Text 16"/>
          <p:cNvSpPr/>
          <p:nvPr/>
        </p:nvSpPr>
        <p:spPr>
          <a:xfrm>
            <a:off x="941760" y="5788080"/>
            <a:ext cx="3931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Original Python-generated histogram from Task 1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7"/>
          <p:cNvSpPr/>
          <p:nvPr/>
        </p:nvSpPr>
        <p:spPr>
          <a:xfrm>
            <a:off x="7726680" y="2971800"/>
            <a:ext cx="3492720" cy="3154320"/>
          </a:xfrm>
          <a:prstGeom prst="roundRect">
            <a:avLst>
              <a:gd name="adj" fmla="val 1739"/>
            </a:avLst>
          </a:prstGeom>
          <a:solidFill>
            <a:srgbClr val="e9f0fb"/>
          </a:solidFill>
          <a:ln w="12600">
            <a:solidFill>
              <a:srgbClr val="e9f0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8"/>
          <p:cNvSpPr/>
          <p:nvPr/>
        </p:nvSpPr>
        <p:spPr>
          <a:xfrm>
            <a:off x="8001000" y="3246120"/>
            <a:ext cx="2514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93a5a"/>
                </a:solidFill>
                <a:effectLst/>
                <a:uFillTx/>
                <a:latin typeface="Arial"/>
                <a:ea typeface="Arial"/>
              </a:rPr>
              <a:t>What the result shows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9"/>
          <p:cNvSpPr/>
          <p:nvPr/>
        </p:nvSpPr>
        <p:spPr>
          <a:xfrm>
            <a:off x="8001000" y="3703320"/>
            <a:ext cx="1279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Sample mean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0"/>
          <p:cNvSpPr/>
          <p:nvPr/>
        </p:nvSpPr>
        <p:spPr>
          <a:xfrm>
            <a:off x="8001000" y="3940920"/>
            <a:ext cx="10969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2.17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21"/>
          <p:cNvSpPr/>
          <p:nvPr/>
        </p:nvSpPr>
        <p:spPr>
          <a:xfrm>
            <a:off x="9281160" y="3703320"/>
            <a:ext cx="1325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Neutral benchmark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22"/>
          <p:cNvSpPr/>
          <p:nvPr/>
        </p:nvSpPr>
        <p:spPr>
          <a:xfrm>
            <a:off x="9281160" y="3940920"/>
            <a:ext cx="10054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1.0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23"/>
          <p:cNvSpPr/>
          <p:nvPr/>
        </p:nvSpPr>
        <p:spPr>
          <a:xfrm>
            <a:off x="8001000" y="4407120"/>
            <a:ext cx="2697480" cy="360"/>
          </a:xfrm>
          <a:prstGeom prst="line">
            <a:avLst/>
          </a:prstGeom>
          <a:ln w="12600">
            <a:solidFill>
              <a:srgbClr val="c7d6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24"/>
          <p:cNvSpPr/>
          <p:nvPr/>
        </p:nvSpPr>
        <p:spPr>
          <a:xfrm>
            <a:off x="8001000" y="4681800"/>
            <a:ext cx="2605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p = 0.096 &gt; 0.05, so the difference from 1.0 is not statistically significant.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25"/>
          <p:cNvSpPr/>
          <p:nvPr/>
        </p:nvSpPr>
        <p:spPr>
          <a:xfrm>
            <a:off x="8001000" y="5413320"/>
            <a:ext cx="26056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Position check: forwards 1.80 vs midfielders 2.14; p = 0.782.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1"/>
          <p:cNvSpPr>
            <a:spLocks noGrp="1"/>
          </p:cNvSpPr>
          <p:nvPr>
            <p:ph type="sldNum" idx="10"/>
          </p:nvPr>
        </p:nvSpPr>
        <p:spPr>
          <a:xfrm>
            <a:off x="11475720" y="647388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8793a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2D5684-90D9-460B-9D75-BD385BB2B416}" type="slidenum">
              <a:rPr b="0" lang="en-US" sz="800" strike="noStrike" u="none">
                <a:solidFill>
                  <a:srgbClr val="8793a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 0"/>
          <p:cNvSpPr/>
          <p:nvPr/>
        </p:nvSpPr>
        <p:spPr>
          <a:xfrm>
            <a:off x="502920" y="567000"/>
            <a:ext cx="7954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Task 2 — Disciplinary record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1"/>
          <p:cNvSpPr/>
          <p:nvPr/>
        </p:nvSpPr>
        <p:spPr>
          <a:xfrm>
            <a:off x="502920" y="1143000"/>
            <a:ext cx="959760" cy="54360"/>
          </a:xfrm>
          <a:prstGeom prst="rect">
            <a:avLst/>
          </a:prstGeom>
          <a:solidFill>
            <a:srgbClr val="c57733"/>
          </a:solidFill>
          <a:ln w="12600">
            <a:solidFill>
              <a:srgbClr val="c577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2"/>
          <p:cNvSpPr/>
          <p:nvPr/>
        </p:nvSpPr>
        <p:spPr>
          <a:xfrm>
            <a:off x="1572840" y="1042560"/>
            <a:ext cx="9692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Original Python boxplot retained for visual evidence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3"/>
          <p:cNvSpPr/>
          <p:nvPr/>
        </p:nvSpPr>
        <p:spPr>
          <a:xfrm>
            <a:off x="9555480" y="511920"/>
            <a:ext cx="2102760" cy="529920"/>
          </a:xfrm>
          <a:prstGeom prst="roundRect">
            <a:avLst>
              <a:gd name="adj" fmla="val 13793"/>
            </a:avLst>
          </a:prstGeom>
          <a:solidFill>
            <a:srgbClr val="c57733"/>
          </a:solidFill>
          <a:ln w="12600">
            <a:solidFill>
              <a:srgbClr val="c577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4"/>
          <p:cNvSpPr/>
          <p:nvPr/>
        </p:nvSpPr>
        <p:spPr>
          <a:xfrm>
            <a:off x="9674280" y="603360"/>
            <a:ext cx="18741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TASK 2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KB Bohora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5"/>
          <p:cNvSpPr/>
          <p:nvPr/>
        </p:nvSpPr>
        <p:spPr>
          <a:xfrm>
            <a:off x="685800" y="1508760"/>
            <a:ext cx="4571640" cy="452592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60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6"/>
          <p:cNvSpPr/>
          <p:nvPr/>
        </p:nvSpPr>
        <p:spPr>
          <a:xfrm>
            <a:off x="932760" y="1764720"/>
            <a:ext cx="1005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c57733"/>
                </a:solidFill>
                <a:effectLst/>
                <a:uFillTx/>
                <a:latin typeface="Arial"/>
                <a:ea typeface="Arial"/>
              </a:rPr>
              <a:t>Question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7"/>
          <p:cNvSpPr/>
          <p:nvPr/>
        </p:nvSpPr>
        <p:spPr>
          <a:xfrm>
            <a:off x="932760" y="2103120"/>
            <a:ext cx="38858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Do midfielders commit more fouls per 90 minutes than defenders?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8"/>
          <p:cNvSpPr/>
          <p:nvPr/>
        </p:nvSpPr>
        <p:spPr>
          <a:xfrm>
            <a:off x="932760" y="2880360"/>
            <a:ext cx="100548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Method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9"/>
          <p:cNvSpPr/>
          <p:nvPr/>
        </p:nvSpPr>
        <p:spPr>
          <a:xfrm>
            <a:off x="932760" y="3182040"/>
            <a:ext cx="388584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marL="177840" indent="-177840" defTabSz="914400">
              <a:lnSpc>
                <a:spcPct val="100000"/>
              </a:lnSpc>
              <a:buClr>
                <a:srgbClr val="1e2b36"/>
              </a:buClr>
              <a:buFont typeface="Symbol" charset="2"/>
              <a:buChar char=""/>
            </a:pPr>
            <a:r>
              <a:rPr b="0" lang="en-US" sz="109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FBref World Cup 2026 miscellaneous statistics</a:t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e2b36"/>
              </a:buClr>
              <a:buFont typeface="Symbol" charset="2"/>
              <a:buChar char=""/>
            </a:pPr>
            <a:r>
              <a:rPr b="0" lang="en-US" sz="109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Removed players with zero minutes</a:t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e2b36"/>
              </a:buClr>
              <a:buFont typeface="Symbol" charset="2"/>
              <a:buChar char=""/>
            </a:pPr>
            <a:r>
              <a:rPr b="0" lang="en-US" sz="109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Filtered to midfielders and defenders</a:t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e2b36"/>
              </a:buClr>
              <a:buFont typeface="Symbol" charset="2"/>
              <a:buChar char=""/>
            </a:pPr>
            <a:r>
              <a:rPr b="0" lang="en-US" sz="109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Normalised fouls per 90 minutes</a:t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0"/>
          <p:cNvSpPr/>
          <p:nvPr/>
        </p:nvSpPr>
        <p:spPr>
          <a:xfrm>
            <a:off x="932760" y="4892040"/>
            <a:ext cx="1599840" cy="959760"/>
          </a:xfrm>
          <a:prstGeom prst="roundRect">
            <a:avLst>
              <a:gd name="adj" fmla="val 5714"/>
            </a:avLst>
          </a:prstGeom>
          <a:solidFill>
            <a:srgbClr val="f8eee5"/>
          </a:solidFill>
          <a:ln w="12600">
            <a:solidFill>
              <a:srgbClr val="f8ee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1"/>
          <p:cNvSpPr/>
          <p:nvPr/>
        </p:nvSpPr>
        <p:spPr>
          <a:xfrm>
            <a:off x="1078920" y="5010840"/>
            <a:ext cx="1307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99" strike="noStrike" u="none">
                <a:solidFill>
                  <a:srgbClr val="c57733"/>
                </a:solidFill>
                <a:effectLst/>
                <a:uFillTx/>
                <a:latin typeface="Arial"/>
                <a:ea typeface="Arial"/>
              </a:rPr>
              <a:t>MF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2"/>
          <p:cNvSpPr/>
          <p:nvPr/>
        </p:nvSpPr>
        <p:spPr>
          <a:xfrm>
            <a:off x="1078920" y="5257800"/>
            <a:ext cx="1307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178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3"/>
          <p:cNvSpPr/>
          <p:nvPr/>
        </p:nvSpPr>
        <p:spPr>
          <a:xfrm>
            <a:off x="1078920" y="5568840"/>
            <a:ext cx="1307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players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14"/>
          <p:cNvSpPr/>
          <p:nvPr/>
        </p:nvSpPr>
        <p:spPr>
          <a:xfrm>
            <a:off x="2715840" y="4892040"/>
            <a:ext cx="1599840" cy="959760"/>
          </a:xfrm>
          <a:prstGeom prst="roundRect">
            <a:avLst>
              <a:gd name="adj" fmla="val 5714"/>
            </a:avLst>
          </a:prstGeom>
          <a:solidFill>
            <a:srgbClr val="f8eee5"/>
          </a:solidFill>
          <a:ln w="12600">
            <a:solidFill>
              <a:srgbClr val="f8ee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5"/>
          <p:cNvSpPr/>
          <p:nvPr/>
        </p:nvSpPr>
        <p:spPr>
          <a:xfrm>
            <a:off x="2862000" y="5010840"/>
            <a:ext cx="1307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99" strike="noStrike" u="none">
                <a:solidFill>
                  <a:srgbClr val="c57733"/>
                </a:solidFill>
                <a:effectLst/>
                <a:uFillTx/>
                <a:latin typeface="Arial"/>
                <a:ea typeface="Arial"/>
              </a:rPr>
              <a:t>DF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6"/>
          <p:cNvSpPr/>
          <p:nvPr/>
        </p:nvSpPr>
        <p:spPr>
          <a:xfrm>
            <a:off x="2862000" y="5257800"/>
            <a:ext cx="1307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163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7"/>
          <p:cNvSpPr/>
          <p:nvPr/>
        </p:nvSpPr>
        <p:spPr>
          <a:xfrm>
            <a:off x="2862000" y="5568840"/>
            <a:ext cx="1307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players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8"/>
          <p:cNvSpPr/>
          <p:nvPr/>
        </p:nvSpPr>
        <p:spPr>
          <a:xfrm>
            <a:off x="5532120" y="1508760"/>
            <a:ext cx="5668920" cy="452592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60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8" name="Image 0" descr="/mnt/data/task2_original_python_boxplot.png"/>
          <p:cNvPicPr/>
          <p:nvPr/>
        </p:nvPicPr>
        <p:blipFill>
          <a:blip r:embed="rId1"/>
          <a:stretch/>
        </p:blipFill>
        <p:spPr>
          <a:xfrm>
            <a:off x="6254640" y="1737360"/>
            <a:ext cx="4224240" cy="352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" name="Text 19"/>
          <p:cNvSpPr/>
          <p:nvPr/>
        </p:nvSpPr>
        <p:spPr>
          <a:xfrm>
            <a:off x="5897880" y="5285160"/>
            <a:ext cx="2514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Original Python-generated boxplot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0"/>
          <p:cNvSpPr/>
          <p:nvPr/>
        </p:nvSpPr>
        <p:spPr>
          <a:xfrm>
            <a:off x="5870520" y="5559480"/>
            <a:ext cx="4983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1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Mean: MF 1.374 vs DF 1.162  •  Median: MF 1.183 vs DF 1.000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1"/>
          <p:cNvSpPr>
            <a:spLocks noGrp="1"/>
          </p:cNvSpPr>
          <p:nvPr>
            <p:ph type="sldNum" idx="11"/>
          </p:nvPr>
        </p:nvSpPr>
        <p:spPr>
          <a:xfrm>
            <a:off x="11475720" y="647388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8793a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4B2CC6-9DB8-4A08-BD82-874DB714260F}" type="slidenum">
              <a:rPr b="0" lang="en-US" sz="800" strike="noStrike" u="none">
                <a:solidFill>
                  <a:srgbClr val="8793a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ext 0"/>
          <p:cNvSpPr/>
          <p:nvPr/>
        </p:nvSpPr>
        <p:spPr>
          <a:xfrm>
            <a:off x="502920" y="567000"/>
            <a:ext cx="7954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Task 2 — Inferential statistics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"/>
          <p:cNvSpPr/>
          <p:nvPr/>
        </p:nvSpPr>
        <p:spPr>
          <a:xfrm>
            <a:off x="502920" y="1143000"/>
            <a:ext cx="959760" cy="54360"/>
          </a:xfrm>
          <a:prstGeom prst="rect">
            <a:avLst/>
          </a:prstGeom>
          <a:solidFill>
            <a:srgbClr val="c57733"/>
          </a:solidFill>
          <a:ln w="12600">
            <a:solidFill>
              <a:srgbClr val="c577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2"/>
          <p:cNvSpPr/>
          <p:nvPr/>
        </p:nvSpPr>
        <p:spPr>
          <a:xfrm>
            <a:off x="1572840" y="1042560"/>
            <a:ext cx="9692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Trend toward more fouls by midfielders, but not significant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3"/>
          <p:cNvSpPr/>
          <p:nvPr/>
        </p:nvSpPr>
        <p:spPr>
          <a:xfrm>
            <a:off x="9555480" y="511920"/>
            <a:ext cx="2102760" cy="529920"/>
          </a:xfrm>
          <a:prstGeom prst="roundRect">
            <a:avLst>
              <a:gd name="adj" fmla="val 13793"/>
            </a:avLst>
          </a:prstGeom>
          <a:solidFill>
            <a:srgbClr val="c57733"/>
          </a:solidFill>
          <a:ln w="12600">
            <a:solidFill>
              <a:srgbClr val="c577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4"/>
          <p:cNvSpPr/>
          <p:nvPr/>
        </p:nvSpPr>
        <p:spPr>
          <a:xfrm>
            <a:off x="9674280" y="603360"/>
            <a:ext cx="18741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TASK 2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KB Bohora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5"/>
          <p:cNvSpPr/>
          <p:nvPr/>
        </p:nvSpPr>
        <p:spPr>
          <a:xfrm>
            <a:off x="685800" y="1508760"/>
            <a:ext cx="2057040" cy="1142640"/>
          </a:xfrm>
          <a:prstGeom prst="roundRect">
            <a:avLst>
              <a:gd name="adj" fmla="val 4800"/>
            </a:avLst>
          </a:prstGeom>
          <a:solidFill>
            <a:srgbClr val="f8eee5"/>
          </a:solidFill>
          <a:ln w="12600">
            <a:solidFill>
              <a:srgbClr val="f8ee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6"/>
          <p:cNvSpPr/>
          <p:nvPr/>
        </p:nvSpPr>
        <p:spPr>
          <a:xfrm>
            <a:off x="831960" y="1627560"/>
            <a:ext cx="1764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99" strike="noStrike" u="none">
                <a:solidFill>
                  <a:srgbClr val="c57733"/>
                </a:solidFill>
                <a:effectLst/>
                <a:uFillTx/>
                <a:latin typeface="Arial"/>
                <a:ea typeface="Arial"/>
              </a:rPr>
              <a:t>MF MEAN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7"/>
          <p:cNvSpPr/>
          <p:nvPr/>
        </p:nvSpPr>
        <p:spPr>
          <a:xfrm>
            <a:off x="831960" y="1874520"/>
            <a:ext cx="1764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1.374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8"/>
          <p:cNvSpPr/>
          <p:nvPr/>
        </p:nvSpPr>
        <p:spPr>
          <a:xfrm>
            <a:off x="831960" y="2368440"/>
            <a:ext cx="1764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fouls / 90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9"/>
          <p:cNvSpPr/>
          <p:nvPr/>
        </p:nvSpPr>
        <p:spPr>
          <a:xfrm>
            <a:off x="2926080" y="1508760"/>
            <a:ext cx="2057040" cy="1142640"/>
          </a:xfrm>
          <a:prstGeom prst="roundRect">
            <a:avLst>
              <a:gd name="adj" fmla="val 4800"/>
            </a:avLst>
          </a:prstGeom>
          <a:solidFill>
            <a:srgbClr val="f8eee5"/>
          </a:solidFill>
          <a:ln w="12600">
            <a:solidFill>
              <a:srgbClr val="f8ee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0"/>
          <p:cNvSpPr/>
          <p:nvPr/>
        </p:nvSpPr>
        <p:spPr>
          <a:xfrm>
            <a:off x="3072240" y="1627560"/>
            <a:ext cx="1764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99" strike="noStrike" u="none">
                <a:solidFill>
                  <a:srgbClr val="c57733"/>
                </a:solidFill>
                <a:effectLst/>
                <a:uFillTx/>
                <a:latin typeface="Arial"/>
                <a:ea typeface="Arial"/>
              </a:rPr>
              <a:t>DF MEAN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1"/>
          <p:cNvSpPr/>
          <p:nvPr/>
        </p:nvSpPr>
        <p:spPr>
          <a:xfrm>
            <a:off x="3072240" y="1874520"/>
            <a:ext cx="1764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1.162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2"/>
          <p:cNvSpPr/>
          <p:nvPr/>
        </p:nvSpPr>
        <p:spPr>
          <a:xfrm>
            <a:off x="3072240" y="2368440"/>
            <a:ext cx="1764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fouls / 90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13"/>
          <p:cNvSpPr/>
          <p:nvPr/>
        </p:nvSpPr>
        <p:spPr>
          <a:xfrm>
            <a:off x="5166360" y="1508760"/>
            <a:ext cx="1874160" cy="1142640"/>
          </a:xfrm>
          <a:prstGeom prst="roundRect">
            <a:avLst>
              <a:gd name="adj" fmla="val 4800"/>
            </a:avLst>
          </a:prstGeom>
          <a:solidFill>
            <a:srgbClr val="f8eee5"/>
          </a:solidFill>
          <a:ln w="12600">
            <a:solidFill>
              <a:srgbClr val="f8ee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4"/>
          <p:cNvSpPr/>
          <p:nvPr/>
        </p:nvSpPr>
        <p:spPr>
          <a:xfrm>
            <a:off x="5312520" y="1627560"/>
            <a:ext cx="1581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99" strike="noStrike" u="none">
                <a:solidFill>
                  <a:srgbClr val="c57733"/>
                </a:solidFill>
                <a:effectLst/>
                <a:uFillTx/>
                <a:latin typeface="Arial"/>
                <a:ea typeface="Arial"/>
              </a:rPr>
              <a:t>P-VALUE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5"/>
          <p:cNvSpPr/>
          <p:nvPr/>
        </p:nvSpPr>
        <p:spPr>
          <a:xfrm>
            <a:off x="5312520" y="1874520"/>
            <a:ext cx="1581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0.0617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6"/>
          <p:cNvSpPr/>
          <p:nvPr/>
        </p:nvSpPr>
        <p:spPr>
          <a:xfrm>
            <a:off x="5312520" y="2368440"/>
            <a:ext cx="15814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one-tailed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17"/>
          <p:cNvSpPr/>
          <p:nvPr/>
        </p:nvSpPr>
        <p:spPr>
          <a:xfrm>
            <a:off x="7269480" y="1755720"/>
            <a:ext cx="2422800" cy="383760"/>
          </a:xfrm>
          <a:prstGeom prst="roundRect">
            <a:avLst>
              <a:gd name="adj" fmla="val 19048"/>
            </a:avLst>
          </a:prstGeom>
          <a:solidFill>
            <a:srgbClr val="fbf4dd"/>
          </a:solidFill>
          <a:ln w="12600">
            <a:solidFill>
              <a:srgbClr val="fbf4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8"/>
          <p:cNvSpPr/>
          <p:nvPr/>
        </p:nvSpPr>
        <p:spPr>
          <a:xfrm>
            <a:off x="7379280" y="1856160"/>
            <a:ext cx="2203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a66f00"/>
                </a:solidFill>
                <a:effectLst/>
                <a:uFillTx/>
                <a:latin typeface="Arial"/>
                <a:ea typeface="Arial"/>
              </a:rPr>
              <a:t>FAIL TO REJECT H₀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19"/>
          <p:cNvSpPr/>
          <p:nvPr/>
        </p:nvSpPr>
        <p:spPr>
          <a:xfrm>
            <a:off x="685800" y="2880360"/>
            <a:ext cx="3840120" cy="3218400"/>
          </a:xfrm>
          <a:prstGeom prst="roundRect">
            <a:avLst>
              <a:gd name="adj" fmla="val 1705"/>
            </a:avLst>
          </a:prstGeom>
          <a:solidFill>
            <a:srgbClr val="f8eee5"/>
          </a:solidFill>
          <a:ln w="12600">
            <a:solidFill>
              <a:srgbClr val="f8ee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20"/>
          <p:cNvSpPr/>
          <p:nvPr/>
        </p:nvSpPr>
        <p:spPr>
          <a:xfrm>
            <a:off x="941760" y="3173040"/>
            <a:ext cx="2102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c57733"/>
                </a:solidFill>
                <a:effectLst/>
                <a:uFillTx/>
                <a:latin typeface="Arial"/>
                <a:ea typeface="Arial"/>
              </a:rPr>
              <a:t>95% confidence intervals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21"/>
          <p:cNvSpPr/>
          <p:nvPr/>
        </p:nvSpPr>
        <p:spPr>
          <a:xfrm>
            <a:off x="941760" y="3566160"/>
            <a:ext cx="3062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MF: 1.168 – 1.580 fouls/90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DF: 0.990 – 1.334 fouls/90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22"/>
          <p:cNvSpPr/>
          <p:nvPr/>
        </p:nvSpPr>
        <p:spPr>
          <a:xfrm>
            <a:off x="941760" y="4407480"/>
            <a:ext cx="2651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Welch / independent two-sample test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23"/>
          <p:cNvSpPr/>
          <p:nvPr/>
        </p:nvSpPr>
        <p:spPr>
          <a:xfrm>
            <a:off x="941760" y="4718160"/>
            <a:ext cx="2285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t(339) = 1.544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p = 0.0617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Cohen’s d = 0.167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24"/>
          <p:cNvSpPr/>
          <p:nvPr/>
        </p:nvSpPr>
        <p:spPr>
          <a:xfrm>
            <a:off x="941760" y="5596200"/>
            <a:ext cx="29714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The effect is small and the p-value is just above α = 0.05.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25"/>
          <p:cNvSpPr/>
          <p:nvPr/>
        </p:nvSpPr>
        <p:spPr>
          <a:xfrm>
            <a:off x="4754880" y="2880360"/>
            <a:ext cx="6446160" cy="3218400"/>
          </a:xfrm>
          <a:prstGeom prst="roundRect">
            <a:avLst>
              <a:gd name="adj" fmla="val 1705"/>
            </a:avLst>
          </a:prstGeom>
          <a:solidFill>
            <a:srgbClr val="ffffff"/>
          </a:solidFill>
          <a:ln w="1260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8" name="Image 0" descr="/mnt/data/task2_original_python_histogram.png"/>
          <p:cNvPicPr/>
          <p:nvPr/>
        </p:nvPicPr>
        <p:blipFill>
          <a:blip r:embed="rId1"/>
          <a:stretch/>
        </p:blipFill>
        <p:spPr>
          <a:xfrm>
            <a:off x="6130080" y="3063240"/>
            <a:ext cx="3686400" cy="263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9" name="Text 26"/>
          <p:cNvSpPr/>
          <p:nvPr/>
        </p:nvSpPr>
        <p:spPr>
          <a:xfrm>
            <a:off x="5047560" y="5760720"/>
            <a:ext cx="28800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Original Python-generated distribution plot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1"/>
          <p:cNvSpPr>
            <a:spLocks noGrp="1"/>
          </p:cNvSpPr>
          <p:nvPr>
            <p:ph type="sldNum" idx="12"/>
          </p:nvPr>
        </p:nvSpPr>
        <p:spPr>
          <a:xfrm>
            <a:off x="11475720" y="647388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8793a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3FB169-C487-44C5-AE09-11EE58AA118F}" type="slidenum">
              <a:rPr b="0" lang="en-US" sz="800" strike="noStrike" u="none">
                <a:solidFill>
                  <a:srgbClr val="8793a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0"/>
          <p:cNvSpPr/>
          <p:nvPr/>
        </p:nvSpPr>
        <p:spPr>
          <a:xfrm>
            <a:off x="502920" y="567000"/>
            <a:ext cx="7954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Task 3 — Goalkeeper save percentage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1"/>
          <p:cNvSpPr/>
          <p:nvPr/>
        </p:nvSpPr>
        <p:spPr>
          <a:xfrm>
            <a:off x="502920" y="1143000"/>
            <a:ext cx="959760" cy="54360"/>
          </a:xfrm>
          <a:prstGeom prst="rect">
            <a:avLst/>
          </a:prstGeom>
          <a:solidFill>
            <a:srgbClr val="2d7a5d"/>
          </a:solidFill>
          <a:ln w="12600">
            <a:solidFill>
              <a:srgbClr val="2d7a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2"/>
          <p:cNvSpPr/>
          <p:nvPr/>
        </p:nvSpPr>
        <p:spPr>
          <a:xfrm>
            <a:off x="1572840" y="1042560"/>
            <a:ext cx="9692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Metric change stated transparently; original Python histogram retained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3"/>
          <p:cNvSpPr/>
          <p:nvPr/>
        </p:nvSpPr>
        <p:spPr>
          <a:xfrm>
            <a:off x="9555480" y="511920"/>
            <a:ext cx="2102760" cy="529920"/>
          </a:xfrm>
          <a:prstGeom prst="roundRect">
            <a:avLst>
              <a:gd name="adj" fmla="val 13793"/>
            </a:avLst>
          </a:prstGeom>
          <a:solidFill>
            <a:srgbClr val="2d7a5d"/>
          </a:solidFill>
          <a:ln w="12600">
            <a:solidFill>
              <a:srgbClr val="2d7a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4"/>
          <p:cNvSpPr/>
          <p:nvPr/>
        </p:nvSpPr>
        <p:spPr>
          <a:xfrm>
            <a:off x="9674280" y="603360"/>
            <a:ext cx="18741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TASK 3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Suman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5"/>
          <p:cNvSpPr/>
          <p:nvPr/>
        </p:nvSpPr>
        <p:spPr>
          <a:xfrm>
            <a:off x="685800" y="1508760"/>
            <a:ext cx="4708800" cy="452592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60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6"/>
          <p:cNvSpPr/>
          <p:nvPr/>
        </p:nvSpPr>
        <p:spPr>
          <a:xfrm>
            <a:off x="932760" y="1783080"/>
            <a:ext cx="1554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2d7a5d"/>
                </a:solidFill>
                <a:effectLst/>
                <a:uFillTx/>
                <a:latin typeface="Arial"/>
                <a:ea typeface="Arial"/>
              </a:rPr>
              <a:t>Question tested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7"/>
          <p:cNvSpPr/>
          <p:nvPr/>
        </p:nvSpPr>
        <p:spPr>
          <a:xfrm>
            <a:off x="932760" y="2130480"/>
            <a:ext cx="3931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Is average squad save percentage significantly different from 85%?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8"/>
          <p:cNvSpPr/>
          <p:nvPr/>
        </p:nvSpPr>
        <p:spPr>
          <a:xfrm>
            <a:off x="932760" y="2907720"/>
            <a:ext cx="13712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Why Save%?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9"/>
          <p:cNvSpPr/>
          <p:nvPr/>
        </p:nvSpPr>
        <p:spPr>
          <a:xfrm>
            <a:off x="932760" y="3218760"/>
            <a:ext cx="39315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9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The available FBref dataset contained Save%, not goalkeeper distribution accuracy. The change was documented rather than inventing unavailable data.</a:t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10"/>
          <p:cNvSpPr/>
          <p:nvPr/>
        </p:nvSpPr>
        <p:spPr>
          <a:xfrm>
            <a:off x="932760" y="4325040"/>
            <a:ext cx="1508400" cy="1051200"/>
          </a:xfrm>
          <a:prstGeom prst="roundRect">
            <a:avLst>
              <a:gd name="adj" fmla="val 5217"/>
            </a:avLst>
          </a:prstGeom>
          <a:solidFill>
            <a:srgbClr val="e9f5ef"/>
          </a:solidFill>
          <a:ln w="12600">
            <a:solidFill>
              <a:srgbClr val="e9f5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1"/>
          <p:cNvSpPr/>
          <p:nvPr/>
        </p:nvSpPr>
        <p:spPr>
          <a:xfrm>
            <a:off x="1078920" y="4443840"/>
            <a:ext cx="12157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99" strike="noStrike" u="none">
                <a:solidFill>
                  <a:srgbClr val="2d7a5d"/>
                </a:solidFill>
                <a:effectLst/>
                <a:uFillTx/>
                <a:latin typeface="Arial"/>
                <a:ea typeface="Arial"/>
              </a:rPr>
              <a:t>POPULATION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2"/>
          <p:cNvSpPr/>
          <p:nvPr/>
        </p:nvSpPr>
        <p:spPr>
          <a:xfrm>
            <a:off x="1078920" y="4690800"/>
            <a:ext cx="1215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48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3"/>
          <p:cNvSpPr/>
          <p:nvPr/>
        </p:nvSpPr>
        <p:spPr>
          <a:xfrm>
            <a:off x="1078920" y="5093280"/>
            <a:ext cx="1215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squads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14"/>
          <p:cNvSpPr/>
          <p:nvPr/>
        </p:nvSpPr>
        <p:spPr>
          <a:xfrm>
            <a:off x="2624400" y="4325040"/>
            <a:ext cx="1508400" cy="1051200"/>
          </a:xfrm>
          <a:prstGeom prst="roundRect">
            <a:avLst>
              <a:gd name="adj" fmla="val 5217"/>
            </a:avLst>
          </a:prstGeom>
          <a:solidFill>
            <a:srgbClr val="e9f5ef"/>
          </a:solidFill>
          <a:ln w="12600">
            <a:solidFill>
              <a:srgbClr val="e9f5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5"/>
          <p:cNvSpPr/>
          <p:nvPr/>
        </p:nvSpPr>
        <p:spPr>
          <a:xfrm>
            <a:off x="2770560" y="4443840"/>
            <a:ext cx="12157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99" strike="noStrike" u="none">
                <a:solidFill>
                  <a:srgbClr val="2d7a5d"/>
                </a:solidFill>
                <a:effectLst/>
                <a:uFillTx/>
                <a:latin typeface="Arial"/>
                <a:ea typeface="Arial"/>
              </a:rPr>
              <a:t>SAMPLE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16"/>
          <p:cNvSpPr/>
          <p:nvPr/>
        </p:nvSpPr>
        <p:spPr>
          <a:xfrm>
            <a:off x="2770560" y="4690800"/>
            <a:ext cx="1215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30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17"/>
          <p:cNvSpPr/>
          <p:nvPr/>
        </p:nvSpPr>
        <p:spPr>
          <a:xfrm>
            <a:off x="2770560" y="5093280"/>
            <a:ext cx="1215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seed = 42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8"/>
          <p:cNvSpPr/>
          <p:nvPr/>
        </p:nvSpPr>
        <p:spPr>
          <a:xfrm>
            <a:off x="932760" y="550476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60" strike="noStrike" u="none">
                <a:solidFill>
                  <a:srgbClr val="2d7a5d"/>
                </a:solidFill>
                <a:effectLst/>
                <a:uFillTx/>
                <a:latin typeface="Arial"/>
                <a:ea typeface="Arial"/>
              </a:rPr>
              <a:t>Validation: no missing Save%, no duplicates, values within 0–100%.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19"/>
          <p:cNvSpPr/>
          <p:nvPr/>
        </p:nvSpPr>
        <p:spPr>
          <a:xfrm>
            <a:off x="5623560" y="1508760"/>
            <a:ext cx="5577480" cy="452592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60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1" name="Image 0" descr="/mnt/data/task3_original_python_histogram.png"/>
          <p:cNvPicPr/>
          <p:nvPr/>
        </p:nvPicPr>
        <p:blipFill>
          <a:blip r:embed="rId1"/>
          <a:stretch/>
        </p:blipFill>
        <p:spPr>
          <a:xfrm>
            <a:off x="5870520" y="1939680"/>
            <a:ext cx="5074560" cy="3261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2" name="Text 20"/>
          <p:cNvSpPr/>
          <p:nvPr/>
        </p:nvSpPr>
        <p:spPr>
          <a:xfrm>
            <a:off x="5925240" y="5504760"/>
            <a:ext cx="31543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Original Python-generated population histogram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21"/>
          <p:cNvSpPr/>
          <p:nvPr/>
        </p:nvSpPr>
        <p:spPr>
          <a:xfrm>
            <a:off x="5925240" y="5760720"/>
            <a:ext cx="4434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7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Population mean = 64.84%  •  85% benchmark shown on chart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1"/>
          <p:cNvSpPr>
            <a:spLocks noGrp="1"/>
          </p:cNvSpPr>
          <p:nvPr>
            <p:ph type="sldNum" idx="13"/>
          </p:nvPr>
        </p:nvSpPr>
        <p:spPr>
          <a:xfrm>
            <a:off x="11475720" y="647388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8793a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02668F-2971-4DC6-8D8C-786F8ED0D96F}" type="slidenum">
              <a:rPr b="0" lang="en-US" sz="800" strike="noStrike" u="none">
                <a:solidFill>
                  <a:srgbClr val="8793a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ext 0"/>
          <p:cNvSpPr/>
          <p:nvPr/>
        </p:nvSpPr>
        <p:spPr>
          <a:xfrm>
            <a:off x="502920" y="567000"/>
            <a:ext cx="7954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Task 3 — Strong statistical evidence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1"/>
          <p:cNvSpPr/>
          <p:nvPr/>
        </p:nvSpPr>
        <p:spPr>
          <a:xfrm>
            <a:off x="502920" y="1143000"/>
            <a:ext cx="959760" cy="54360"/>
          </a:xfrm>
          <a:prstGeom prst="rect">
            <a:avLst/>
          </a:prstGeom>
          <a:solidFill>
            <a:srgbClr val="2d7a5d"/>
          </a:solidFill>
          <a:ln w="12600">
            <a:solidFill>
              <a:srgbClr val="2d7a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2"/>
          <p:cNvSpPr/>
          <p:nvPr/>
        </p:nvSpPr>
        <p:spPr>
          <a:xfrm>
            <a:off x="1572840" y="1042560"/>
            <a:ext cx="9692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Average save percentage was significantly below 85%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3"/>
          <p:cNvSpPr/>
          <p:nvPr/>
        </p:nvSpPr>
        <p:spPr>
          <a:xfrm>
            <a:off x="9555480" y="511920"/>
            <a:ext cx="2102760" cy="529920"/>
          </a:xfrm>
          <a:prstGeom prst="roundRect">
            <a:avLst>
              <a:gd name="adj" fmla="val 13793"/>
            </a:avLst>
          </a:prstGeom>
          <a:solidFill>
            <a:srgbClr val="2d7a5d"/>
          </a:solidFill>
          <a:ln w="12600">
            <a:solidFill>
              <a:srgbClr val="2d7a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4"/>
          <p:cNvSpPr/>
          <p:nvPr/>
        </p:nvSpPr>
        <p:spPr>
          <a:xfrm>
            <a:off x="9674280" y="603360"/>
            <a:ext cx="18741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TASK 3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Suman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5"/>
          <p:cNvSpPr/>
          <p:nvPr/>
        </p:nvSpPr>
        <p:spPr>
          <a:xfrm>
            <a:off x="685800" y="1508760"/>
            <a:ext cx="2057040" cy="1142640"/>
          </a:xfrm>
          <a:prstGeom prst="roundRect">
            <a:avLst>
              <a:gd name="adj" fmla="val 4800"/>
            </a:avLst>
          </a:prstGeom>
          <a:solidFill>
            <a:srgbClr val="e9f5ef"/>
          </a:solidFill>
          <a:ln w="12600">
            <a:solidFill>
              <a:srgbClr val="e9f5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6"/>
          <p:cNvSpPr/>
          <p:nvPr/>
        </p:nvSpPr>
        <p:spPr>
          <a:xfrm>
            <a:off x="831960" y="1627560"/>
            <a:ext cx="1764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99" strike="noStrike" u="none">
                <a:solidFill>
                  <a:srgbClr val="2d7a5d"/>
                </a:solidFill>
                <a:effectLst/>
                <a:uFillTx/>
                <a:latin typeface="Arial"/>
                <a:ea typeface="Arial"/>
              </a:rPr>
              <a:t>SAMPLE MEAN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7"/>
          <p:cNvSpPr/>
          <p:nvPr/>
        </p:nvSpPr>
        <p:spPr>
          <a:xfrm>
            <a:off x="831960" y="1874520"/>
            <a:ext cx="1764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64.93%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8"/>
          <p:cNvSpPr/>
          <p:nvPr/>
        </p:nvSpPr>
        <p:spPr>
          <a:xfrm>
            <a:off x="831960" y="2368440"/>
            <a:ext cx="1764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n = 30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9"/>
          <p:cNvSpPr/>
          <p:nvPr/>
        </p:nvSpPr>
        <p:spPr>
          <a:xfrm>
            <a:off x="2926080" y="1508760"/>
            <a:ext cx="2239920" cy="1142640"/>
          </a:xfrm>
          <a:prstGeom prst="roundRect">
            <a:avLst>
              <a:gd name="adj" fmla="val 4800"/>
            </a:avLst>
          </a:prstGeom>
          <a:solidFill>
            <a:srgbClr val="e9f5ef"/>
          </a:solidFill>
          <a:ln w="12600">
            <a:solidFill>
              <a:srgbClr val="e9f5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0"/>
          <p:cNvSpPr/>
          <p:nvPr/>
        </p:nvSpPr>
        <p:spPr>
          <a:xfrm>
            <a:off x="3072240" y="1627560"/>
            <a:ext cx="1947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99" strike="noStrike" u="none">
                <a:solidFill>
                  <a:srgbClr val="2d7a5d"/>
                </a:solidFill>
                <a:effectLst/>
                <a:uFillTx/>
                <a:latin typeface="Arial"/>
                <a:ea typeface="Arial"/>
              </a:rPr>
              <a:t>95% CI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1"/>
          <p:cNvSpPr/>
          <p:nvPr/>
        </p:nvSpPr>
        <p:spPr>
          <a:xfrm>
            <a:off x="3072240" y="1874520"/>
            <a:ext cx="1947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59.96–69.91%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2"/>
          <p:cNvSpPr/>
          <p:nvPr/>
        </p:nvSpPr>
        <p:spPr>
          <a:xfrm>
            <a:off x="3072240" y="2368440"/>
            <a:ext cx="1947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population mean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13"/>
          <p:cNvSpPr/>
          <p:nvPr/>
        </p:nvSpPr>
        <p:spPr>
          <a:xfrm>
            <a:off x="5349240" y="1508760"/>
            <a:ext cx="1828440" cy="1142640"/>
          </a:xfrm>
          <a:prstGeom prst="roundRect">
            <a:avLst>
              <a:gd name="adj" fmla="val 4800"/>
            </a:avLst>
          </a:prstGeom>
          <a:solidFill>
            <a:srgbClr val="e9f5ef"/>
          </a:solidFill>
          <a:ln w="12600">
            <a:solidFill>
              <a:srgbClr val="e9f5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4"/>
          <p:cNvSpPr/>
          <p:nvPr/>
        </p:nvSpPr>
        <p:spPr>
          <a:xfrm>
            <a:off x="5495400" y="1627560"/>
            <a:ext cx="1535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99" strike="noStrike" u="none">
                <a:solidFill>
                  <a:srgbClr val="2d7a5d"/>
                </a:solidFill>
                <a:effectLst/>
                <a:uFillTx/>
                <a:latin typeface="Arial"/>
                <a:ea typeface="Arial"/>
              </a:rPr>
              <a:t>P-VALUE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5"/>
          <p:cNvSpPr/>
          <p:nvPr/>
        </p:nvSpPr>
        <p:spPr>
          <a:xfrm>
            <a:off x="5495400" y="1874520"/>
            <a:ext cx="1535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&lt; 0.001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6"/>
          <p:cNvSpPr/>
          <p:nvPr/>
        </p:nvSpPr>
        <p:spPr>
          <a:xfrm>
            <a:off x="5495400" y="2368440"/>
            <a:ext cx="1535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two-tailed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17"/>
          <p:cNvSpPr/>
          <p:nvPr/>
        </p:nvSpPr>
        <p:spPr>
          <a:xfrm>
            <a:off x="7406640" y="1755720"/>
            <a:ext cx="2011320" cy="383760"/>
          </a:xfrm>
          <a:prstGeom prst="roundRect">
            <a:avLst>
              <a:gd name="adj" fmla="val 19048"/>
            </a:avLst>
          </a:prstGeom>
          <a:solidFill>
            <a:srgbClr val="e9f5ef"/>
          </a:solidFill>
          <a:ln w="12600">
            <a:solidFill>
              <a:srgbClr val="e9f5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8"/>
          <p:cNvSpPr/>
          <p:nvPr/>
        </p:nvSpPr>
        <p:spPr>
          <a:xfrm>
            <a:off x="7516440" y="1856160"/>
            <a:ext cx="17917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1f6e46"/>
                </a:solidFill>
                <a:effectLst/>
                <a:uFillTx/>
                <a:latin typeface="Arial"/>
                <a:ea typeface="Arial"/>
              </a:rPr>
              <a:t>REJECT H₀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19"/>
          <p:cNvSpPr/>
          <p:nvPr/>
        </p:nvSpPr>
        <p:spPr>
          <a:xfrm>
            <a:off x="685800" y="2880360"/>
            <a:ext cx="3702960" cy="3200040"/>
          </a:xfrm>
          <a:prstGeom prst="roundRect">
            <a:avLst>
              <a:gd name="adj" fmla="val 1714"/>
            </a:avLst>
          </a:prstGeom>
          <a:solidFill>
            <a:srgbClr val="e9f5ef"/>
          </a:solidFill>
          <a:ln w="12600">
            <a:solidFill>
              <a:srgbClr val="e9f5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20"/>
          <p:cNvSpPr/>
          <p:nvPr/>
        </p:nvSpPr>
        <p:spPr>
          <a:xfrm>
            <a:off x="941760" y="3182040"/>
            <a:ext cx="18284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d7a5d"/>
                </a:solidFill>
                <a:effectLst/>
                <a:uFillTx/>
                <a:latin typeface="Arial"/>
                <a:ea typeface="Arial"/>
              </a:rPr>
              <a:t>One-sample t-test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21"/>
          <p:cNvSpPr/>
          <p:nvPr/>
        </p:nvSpPr>
        <p:spPr>
          <a:xfrm>
            <a:off x="941760" y="3593520"/>
            <a:ext cx="2377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H₀: μ = 85%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H₁: μ ≠ 85%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22"/>
          <p:cNvSpPr/>
          <p:nvPr/>
        </p:nvSpPr>
        <p:spPr>
          <a:xfrm>
            <a:off x="941760" y="4370760"/>
            <a:ext cx="23770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t = −8.251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df = 29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α = 0.05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23"/>
          <p:cNvSpPr/>
          <p:nvPr/>
        </p:nvSpPr>
        <p:spPr>
          <a:xfrm>
            <a:off x="941760" y="5349240"/>
            <a:ext cx="2880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20" strike="noStrike" u="none">
                <a:solidFill>
                  <a:srgbClr val="2d7a5d"/>
                </a:solidFill>
                <a:effectLst/>
                <a:uFillTx/>
                <a:latin typeface="Arial"/>
                <a:ea typeface="Arial"/>
              </a:rPr>
              <a:t>Only 3 of 48 squads reached or exceeded the 85% benchmark.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24"/>
          <p:cNvSpPr/>
          <p:nvPr/>
        </p:nvSpPr>
        <p:spPr>
          <a:xfrm>
            <a:off x="4617720" y="2880360"/>
            <a:ext cx="6583320" cy="320004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60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0" name="Image 0" descr="/mnt/data/task3_original_python_ci.png"/>
          <p:cNvPicPr/>
          <p:nvPr/>
        </p:nvPicPr>
        <p:blipFill>
          <a:blip r:embed="rId1"/>
          <a:stretch/>
        </p:blipFill>
        <p:spPr>
          <a:xfrm>
            <a:off x="6385680" y="3090600"/>
            <a:ext cx="3038040" cy="265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1" name="Text 25"/>
          <p:cNvSpPr/>
          <p:nvPr/>
        </p:nvSpPr>
        <p:spPr>
          <a:xfrm>
            <a:off x="4919400" y="5760720"/>
            <a:ext cx="31543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Original Python-generated confidence-interval chart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PlaceHolder 1"/>
          <p:cNvSpPr>
            <a:spLocks noGrp="1"/>
          </p:cNvSpPr>
          <p:nvPr>
            <p:ph type="sldNum" idx="14"/>
          </p:nvPr>
        </p:nvSpPr>
        <p:spPr>
          <a:xfrm>
            <a:off x="11475720" y="647388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8793a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FAC370-6B68-4485-B7BC-E597053FCC75}" type="slidenum">
              <a:rPr b="0" lang="en-US" sz="800" strike="noStrike" u="none">
                <a:solidFill>
                  <a:srgbClr val="8793a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Text 0"/>
          <p:cNvSpPr/>
          <p:nvPr/>
        </p:nvSpPr>
        <p:spPr>
          <a:xfrm>
            <a:off x="502920" y="567000"/>
            <a:ext cx="7954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Task 4 — Passing accuracy by position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1"/>
          <p:cNvSpPr/>
          <p:nvPr/>
        </p:nvSpPr>
        <p:spPr>
          <a:xfrm>
            <a:off x="502920" y="1143000"/>
            <a:ext cx="959760" cy="54360"/>
          </a:xfrm>
          <a:prstGeom prst="rect">
            <a:avLst/>
          </a:prstGeom>
          <a:solidFill>
            <a:srgbClr val="6a4c93"/>
          </a:solidFill>
          <a:ln w="12600">
            <a:solidFill>
              <a:srgbClr val="6a4c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2"/>
          <p:cNvSpPr/>
          <p:nvPr/>
        </p:nvSpPr>
        <p:spPr>
          <a:xfrm>
            <a:off x="1572840" y="1042560"/>
            <a:ext cx="9692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Do defenders have higher average passing accuracy than midfielders?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3"/>
          <p:cNvSpPr/>
          <p:nvPr/>
        </p:nvSpPr>
        <p:spPr>
          <a:xfrm>
            <a:off x="9555480" y="511920"/>
            <a:ext cx="2102760" cy="529920"/>
          </a:xfrm>
          <a:prstGeom prst="roundRect">
            <a:avLst>
              <a:gd name="adj" fmla="val 13793"/>
            </a:avLst>
          </a:prstGeom>
          <a:solidFill>
            <a:srgbClr val="6a4c93"/>
          </a:solidFill>
          <a:ln w="12600">
            <a:solidFill>
              <a:srgbClr val="6a4c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4"/>
          <p:cNvSpPr/>
          <p:nvPr/>
        </p:nvSpPr>
        <p:spPr>
          <a:xfrm>
            <a:off x="9674280" y="603360"/>
            <a:ext cx="18741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TASK 4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Prabin Shrestha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5"/>
          <p:cNvSpPr/>
          <p:nvPr/>
        </p:nvSpPr>
        <p:spPr>
          <a:xfrm>
            <a:off x="685800" y="1508760"/>
            <a:ext cx="5166000" cy="448020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600">
            <a:solidFill>
              <a:srgbClr val="d8e0e8"/>
            </a:solidFill>
            <a:round/>
          </a:ln>
          <a:effectLst>
            <a:outerShdw dist="50402" dir="2700000" blurRad="19080" rotWithShape="0">
              <a:srgbClr val="b8c1c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6"/>
          <p:cNvSpPr/>
          <p:nvPr/>
        </p:nvSpPr>
        <p:spPr>
          <a:xfrm>
            <a:off x="932760" y="178308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6a4c93"/>
                </a:solidFill>
                <a:effectLst/>
                <a:uFillTx/>
                <a:latin typeface="Arial"/>
                <a:ea typeface="Arial"/>
              </a:rPr>
              <a:t>Data wrangling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7"/>
          <p:cNvSpPr/>
          <p:nvPr/>
        </p:nvSpPr>
        <p:spPr>
          <a:xfrm>
            <a:off x="932760" y="2148840"/>
            <a:ext cx="443448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marL="177840" indent="-177840" defTabSz="914400">
              <a:lnSpc>
                <a:spcPct val="100000"/>
              </a:lnSpc>
              <a:buClr>
                <a:srgbClr val="1e2b36"/>
              </a:buClr>
              <a:buFont typeface="Symbol" charset="2"/>
              <a:buChar char=""/>
            </a:pPr>
            <a:r>
              <a:rPr b="0" lang="en-US" sz="114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FIFA World Cup 2026 player statistics — Distribution</a:t>
            </a:r>
            <a:endParaRPr b="0" lang="en-US" sz="11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e2b36"/>
              </a:buClr>
              <a:buFont typeface="Symbol" charset="2"/>
              <a:buChar char=""/>
            </a:pPr>
            <a:r>
              <a:rPr b="0" lang="en-US" sz="114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Kept defenders (DF) and midfielders (MF) only</a:t>
            </a:r>
            <a:endParaRPr b="0" lang="en-US" sz="11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e2b36"/>
              </a:buClr>
              <a:buFont typeface="Symbol" charset="2"/>
              <a:buChar char=""/>
            </a:pPr>
            <a:r>
              <a:rPr b="0" lang="en-US" sz="114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Variables: passes, completed passes, passing accuracy</a:t>
            </a:r>
            <a:endParaRPr b="0" lang="en-US" sz="11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e2b36"/>
              </a:buClr>
              <a:buFont typeface="Symbol" charset="2"/>
              <a:buChar char=""/>
            </a:pPr>
            <a:r>
              <a:rPr b="0" lang="en-US" sz="114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Checked missing values before analysis</a:t>
            </a:r>
            <a:endParaRPr b="0" lang="en-US" sz="11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8"/>
          <p:cNvSpPr/>
          <p:nvPr/>
        </p:nvSpPr>
        <p:spPr>
          <a:xfrm>
            <a:off x="932760" y="3913560"/>
            <a:ext cx="1919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Available sampling frame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9"/>
          <p:cNvSpPr/>
          <p:nvPr/>
        </p:nvSpPr>
        <p:spPr>
          <a:xfrm>
            <a:off x="932760" y="4279320"/>
            <a:ext cx="1599840" cy="1142640"/>
          </a:xfrm>
          <a:prstGeom prst="roundRect">
            <a:avLst>
              <a:gd name="adj" fmla="val 4800"/>
            </a:avLst>
          </a:prstGeom>
          <a:solidFill>
            <a:srgbClr val="f0ebf6"/>
          </a:solidFill>
          <a:ln w="12600">
            <a:solidFill>
              <a:srgbClr val="f0eb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0"/>
          <p:cNvSpPr/>
          <p:nvPr/>
        </p:nvSpPr>
        <p:spPr>
          <a:xfrm>
            <a:off x="1078920" y="4398120"/>
            <a:ext cx="1307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99" strike="noStrike" u="none">
                <a:solidFill>
                  <a:srgbClr val="6a4c93"/>
                </a:solidFill>
                <a:effectLst/>
                <a:uFillTx/>
                <a:latin typeface="Arial"/>
                <a:ea typeface="Arial"/>
              </a:rPr>
              <a:t>DF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1"/>
          <p:cNvSpPr/>
          <p:nvPr/>
        </p:nvSpPr>
        <p:spPr>
          <a:xfrm>
            <a:off x="1078920" y="4645080"/>
            <a:ext cx="1307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80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2"/>
          <p:cNvSpPr/>
          <p:nvPr/>
        </p:nvSpPr>
        <p:spPr>
          <a:xfrm>
            <a:off x="1078920" y="5139000"/>
            <a:ext cx="1307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available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13"/>
          <p:cNvSpPr/>
          <p:nvPr/>
        </p:nvSpPr>
        <p:spPr>
          <a:xfrm>
            <a:off x="2715840" y="4279320"/>
            <a:ext cx="1599840" cy="1142640"/>
          </a:xfrm>
          <a:prstGeom prst="roundRect">
            <a:avLst>
              <a:gd name="adj" fmla="val 4800"/>
            </a:avLst>
          </a:prstGeom>
          <a:solidFill>
            <a:srgbClr val="f0ebf6"/>
          </a:solidFill>
          <a:ln w="12600">
            <a:solidFill>
              <a:srgbClr val="f0eb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4"/>
          <p:cNvSpPr/>
          <p:nvPr/>
        </p:nvSpPr>
        <p:spPr>
          <a:xfrm>
            <a:off x="2862000" y="4398120"/>
            <a:ext cx="1307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99" strike="noStrike" u="none">
                <a:solidFill>
                  <a:srgbClr val="6a4c93"/>
                </a:solidFill>
                <a:effectLst/>
                <a:uFillTx/>
                <a:latin typeface="Arial"/>
                <a:ea typeface="Arial"/>
              </a:rPr>
              <a:t>MF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15"/>
          <p:cNvSpPr/>
          <p:nvPr/>
        </p:nvSpPr>
        <p:spPr>
          <a:xfrm>
            <a:off x="2862000" y="4645080"/>
            <a:ext cx="1307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59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16"/>
          <p:cNvSpPr/>
          <p:nvPr/>
        </p:nvSpPr>
        <p:spPr>
          <a:xfrm>
            <a:off x="2862000" y="5139000"/>
            <a:ext cx="1307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available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17"/>
          <p:cNvSpPr/>
          <p:nvPr/>
        </p:nvSpPr>
        <p:spPr>
          <a:xfrm>
            <a:off x="6144840" y="1508760"/>
            <a:ext cx="5056200" cy="4480200"/>
          </a:xfrm>
          <a:prstGeom prst="roundRect">
            <a:avLst>
              <a:gd name="adj" fmla="val 1224"/>
            </a:avLst>
          </a:prstGeom>
          <a:solidFill>
            <a:srgbClr val="f0ebf6"/>
          </a:solidFill>
          <a:ln w="12600">
            <a:solidFill>
              <a:srgbClr val="f0eb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18"/>
          <p:cNvSpPr/>
          <p:nvPr/>
        </p:nvSpPr>
        <p:spPr>
          <a:xfrm>
            <a:off x="6446520" y="1810440"/>
            <a:ext cx="2742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6a4c93"/>
                </a:solidFill>
                <a:effectLst/>
                <a:uFillTx/>
                <a:latin typeface="Arial"/>
                <a:ea typeface="Arial"/>
              </a:rPr>
              <a:t>Stratified random sampling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19"/>
          <p:cNvSpPr/>
          <p:nvPr/>
        </p:nvSpPr>
        <p:spPr>
          <a:xfrm>
            <a:off x="6537960" y="245052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30 defenders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20"/>
          <p:cNvSpPr/>
          <p:nvPr/>
        </p:nvSpPr>
        <p:spPr>
          <a:xfrm>
            <a:off x="8394120" y="2459880"/>
            <a:ext cx="319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+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21"/>
          <p:cNvSpPr/>
          <p:nvPr/>
        </p:nvSpPr>
        <p:spPr>
          <a:xfrm>
            <a:off x="8814960" y="245052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30 midfielders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22"/>
          <p:cNvSpPr/>
          <p:nvPr/>
        </p:nvSpPr>
        <p:spPr>
          <a:xfrm>
            <a:off x="6537960" y="2944080"/>
            <a:ext cx="4187880" cy="360"/>
          </a:xfrm>
          <a:prstGeom prst="line">
            <a:avLst/>
          </a:prstGeom>
          <a:ln w="19080">
            <a:solidFill>
              <a:srgbClr val="cfc2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23"/>
          <p:cNvSpPr/>
          <p:nvPr/>
        </p:nvSpPr>
        <p:spPr>
          <a:xfrm>
            <a:off x="6537960" y="324612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6a4c93"/>
                </a:solidFill>
                <a:effectLst/>
                <a:uFillTx/>
                <a:latin typeface="Arial"/>
                <a:ea typeface="Arial"/>
              </a:rPr>
              <a:t>Final sample = 60 players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24"/>
          <p:cNvSpPr/>
          <p:nvPr/>
        </p:nvSpPr>
        <p:spPr>
          <a:xfrm>
            <a:off x="6537960" y="3703320"/>
            <a:ext cx="2377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e2b36"/>
                </a:solidFill>
                <a:effectLst/>
                <a:uFillTx/>
                <a:latin typeface="Courier New"/>
                <a:ea typeface="Courier New"/>
              </a:rPr>
              <a:t>random_state = 140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25"/>
          <p:cNvSpPr/>
          <p:nvPr/>
        </p:nvSpPr>
        <p:spPr>
          <a:xfrm>
            <a:off x="6537960" y="4069080"/>
            <a:ext cx="3840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The fixed seed makes the selected sample reproducible every time the script is run.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26"/>
          <p:cNvSpPr/>
          <p:nvPr/>
        </p:nvSpPr>
        <p:spPr>
          <a:xfrm>
            <a:off x="6537960" y="502920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trike="noStrike" u="none">
                <a:solidFill>
                  <a:srgbClr val="6a4c93"/>
                </a:solidFill>
                <a:effectLst/>
                <a:uFillTx/>
                <a:latin typeface="Arial"/>
                <a:ea typeface="Arial"/>
              </a:rPr>
              <a:t>Python output and sample CSV are stored with the project files.</a:t>
            </a:r>
            <a:endParaRPr b="0" lang="en-US" sz="10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PlaceHolder 1"/>
          <p:cNvSpPr>
            <a:spLocks noGrp="1"/>
          </p:cNvSpPr>
          <p:nvPr>
            <p:ph type="sldNum" idx="15"/>
          </p:nvPr>
        </p:nvSpPr>
        <p:spPr>
          <a:xfrm>
            <a:off x="11475720" y="647388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8793a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9C2776-14AE-42F9-91AA-F3085941F2EB}" type="slidenum">
              <a:rPr b="0" lang="en-US" sz="800" strike="noStrike" u="none">
                <a:solidFill>
                  <a:srgbClr val="8793a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Text 0"/>
          <p:cNvSpPr/>
          <p:nvPr/>
        </p:nvSpPr>
        <p:spPr>
          <a:xfrm>
            <a:off x="502920" y="567000"/>
            <a:ext cx="7954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Task 4 — Statistical result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1"/>
          <p:cNvSpPr/>
          <p:nvPr/>
        </p:nvSpPr>
        <p:spPr>
          <a:xfrm>
            <a:off x="502920" y="1143000"/>
            <a:ext cx="959760" cy="54360"/>
          </a:xfrm>
          <a:prstGeom prst="rect">
            <a:avLst/>
          </a:prstGeom>
          <a:solidFill>
            <a:srgbClr val="6a4c93"/>
          </a:solidFill>
          <a:ln w="12600">
            <a:solidFill>
              <a:srgbClr val="6a4c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2"/>
          <p:cNvSpPr/>
          <p:nvPr/>
        </p:nvSpPr>
        <p:spPr>
          <a:xfrm>
            <a:off x="1572840" y="1042560"/>
            <a:ext cx="9692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Exact Python-generated boxplot and CI chart retained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3"/>
          <p:cNvSpPr/>
          <p:nvPr/>
        </p:nvSpPr>
        <p:spPr>
          <a:xfrm>
            <a:off x="9555480" y="511920"/>
            <a:ext cx="2102760" cy="529920"/>
          </a:xfrm>
          <a:prstGeom prst="roundRect">
            <a:avLst>
              <a:gd name="adj" fmla="val 13793"/>
            </a:avLst>
          </a:prstGeom>
          <a:solidFill>
            <a:srgbClr val="6a4c93"/>
          </a:solidFill>
          <a:ln w="12600">
            <a:solidFill>
              <a:srgbClr val="6a4c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4"/>
          <p:cNvSpPr/>
          <p:nvPr/>
        </p:nvSpPr>
        <p:spPr>
          <a:xfrm>
            <a:off x="9674280" y="603360"/>
            <a:ext cx="18741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TASK 4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Prabin Shrestha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5"/>
          <p:cNvSpPr/>
          <p:nvPr/>
        </p:nvSpPr>
        <p:spPr>
          <a:xfrm>
            <a:off x="685800" y="1508760"/>
            <a:ext cx="2057040" cy="1078560"/>
          </a:xfrm>
          <a:prstGeom prst="roundRect">
            <a:avLst>
              <a:gd name="adj" fmla="val 5085"/>
            </a:avLst>
          </a:prstGeom>
          <a:solidFill>
            <a:srgbClr val="f0ebf6"/>
          </a:solidFill>
          <a:ln w="12600">
            <a:solidFill>
              <a:srgbClr val="f0eb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6"/>
          <p:cNvSpPr/>
          <p:nvPr/>
        </p:nvSpPr>
        <p:spPr>
          <a:xfrm>
            <a:off x="831960" y="1627560"/>
            <a:ext cx="1764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99" strike="noStrike" u="none">
                <a:solidFill>
                  <a:srgbClr val="6a4c93"/>
                </a:solidFill>
                <a:effectLst/>
                <a:uFillTx/>
                <a:latin typeface="Arial"/>
                <a:ea typeface="Arial"/>
              </a:rPr>
              <a:t>DF MEAN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7"/>
          <p:cNvSpPr/>
          <p:nvPr/>
        </p:nvSpPr>
        <p:spPr>
          <a:xfrm>
            <a:off x="831960" y="1874520"/>
            <a:ext cx="1764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90.60%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8"/>
          <p:cNvSpPr/>
          <p:nvPr/>
        </p:nvSpPr>
        <p:spPr>
          <a:xfrm>
            <a:off x="831960" y="2304360"/>
            <a:ext cx="1764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n = 30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9"/>
          <p:cNvSpPr/>
          <p:nvPr/>
        </p:nvSpPr>
        <p:spPr>
          <a:xfrm>
            <a:off x="2926080" y="1508760"/>
            <a:ext cx="2057040" cy="1078560"/>
          </a:xfrm>
          <a:prstGeom prst="roundRect">
            <a:avLst>
              <a:gd name="adj" fmla="val 5085"/>
            </a:avLst>
          </a:prstGeom>
          <a:solidFill>
            <a:srgbClr val="f0ebf6"/>
          </a:solidFill>
          <a:ln w="12600">
            <a:solidFill>
              <a:srgbClr val="f0eb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0"/>
          <p:cNvSpPr/>
          <p:nvPr/>
        </p:nvSpPr>
        <p:spPr>
          <a:xfrm>
            <a:off x="3072240" y="1627560"/>
            <a:ext cx="1764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99" strike="noStrike" u="none">
                <a:solidFill>
                  <a:srgbClr val="6a4c93"/>
                </a:solidFill>
                <a:effectLst/>
                <a:uFillTx/>
                <a:latin typeface="Arial"/>
                <a:ea typeface="Arial"/>
              </a:rPr>
              <a:t>MF MEAN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11"/>
          <p:cNvSpPr/>
          <p:nvPr/>
        </p:nvSpPr>
        <p:spPr>
          <a:xfrm>
            <a:off x="3072240" y="1874520"/>
            <a:ext cx="1764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89.20%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2"/>
          <p:cNvSpPr/>
          <p:nvPr/>
        </p:nvSpPr>
        <p:spPr>
          <a:xfrm>
            <a:off x="3072240" y="2304360"/>
            <a:ext cx="1764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n = 30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13"/>
          <p:cNvSpPr/>
          <p:nvPr/>
        </p:nvSpPr>
        <p:spPr>
          <a:xfrm>
            <a:off x="5166360" y="1508760"/>
            <a:ext cx="1874160" cy="1078560"/>
          </a:xfrm>
          <a:prstGeom prst="roundRect">
            <a:avLst>
              <a:gd name="adj" fmla="val 5085"/>
            </a:avLst>
          </a:prstGeom>
          <a:solidFill>
            <a:srgbClr val="f0ebf6"/>
          </a:solidFill>
          <a:ln w="12600">
            <a:solidFill>
              <a:srgbClr val="f0eb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14"/>
          <p:cNvSpPr/>
          <p:nvPr/>
        </p:nvSpPr>
        <p:spPr>
          <a:xfrm>
            <a:off x="5312520" y="1627560"/>
            <a:ext cx="1581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99" strike="noStrike" u="none">
                <a:solidFill>
                  <a:srgbClr val="6a4c93"/>
                </a:solidFill>
                <a:effectLst/>
                <a:uFillTx/>
                <a:latin typeface="Arial"/>
                <a:ea typeface="Arial"/>
              </a:rPr>
              <a:t>P-VALUE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15"/>
          <p:cNvSpPr/>
          <p:nvPr/>
        </p:nvSpPr>
        <p:spPr>
          <a:xfrm>
            <a:off x="5312520" y="1874520"/>
            <a:ext cx="1581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0.0796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16"/>
          <p:cNvSpPr/>
          <p:nvPr/>
        </p:nvSpPr>
        <p:spPr>
          <a:xfrm>
            <a:off x="5312520" y="2304360"/>
            <a:ext cx="15814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Welch, one-tailed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17"/>
          <p:cNvSpPr/>
          <p:nvPr/>
        </p:nvSpPr>
        <p:spPr>
          <a:xfrm>
            <a:off x="7269480" y="1737360"/>
            <a:ext cx="2422800" cy="383760"/>
          </a:xfrm>
          <a:prstGeom prst="roundRect">
            <a:avLst>
              <a:gd name="adj" fmla="val 19048"/>
            </a:avLst>
          </a:prstGeom>
          <a:solidFill>
            <a:srgbClr val="fbf4dd"/>
          </a:solidFill>
          <a:ln w="12600">
            <a:solidFill>
              <a:srgbClr val="fbf4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18"/>
          <p:cNvSpPr/>
          <p:nvPr/>
        </p:nvSpPr>
        <p:spPr>
          <a:xfrm>
            <a:off x="7379280" y="1837800"/>
            <a:ext cx="2203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a66f00"/>
                </a:solidFill>
                <a:effectLst/>
                <a:uFillTx/>
                <a:latin typeface="Arial"/>
                <a:ea typeface="Arial"/>
              </a:rPr>
              <a:t>FAIL TO REJECT H₀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19"/>
          <p:cNvSpPr/>
          <p:nvPr/>
        </p:nvSpPr>
        <p:spPr>
          <a:xfrm>
            <a:off x="685800" y="2816280"/>
            <a:ext cx="5230080" cy="318168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60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1" name="Image 0" descr="/mnt/data/task4_original_python_boxplot.png"/>
          <p:cNvPicPr/>
          <p:nvPr/>
        </p:nvPicPr>
        <p:blipFill>
          <a:blip r:embed="rId1"/>
          <a:stretch/>
        </p:blipFill>
        <p:spPr>
          <a:xfrm>
            <a:off x="1029600" y="2999160"/>
            <a:ext cx="4560840" cy="2614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2" name="Text 20"/>
          <p:cNvSpPr/>
          <p:nvPr/>
        </p:nvSpPr>
        <p:spPr>
          <a:xfrm>
            <a:off x="941760" y="5687640"/>
            <a:ext cx="2422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Original Python-generated boxplot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21"/>
          <p:cNvSpPr/>
          <p:nvPr/>
        </p:nvSpPr>
        <p:spPr>
          <a:xfrm>
            <a:off x="6144840" y="2816280"/>
            <a:ext cx="5056200" cy="318168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60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4" name="Image 1" descr="/mnt/data/task4_original_python_ci.png"/>
          <p:cNvPicPr/>
          <p:nvPr/>
        </p:nvPicPr>
        <p:blipFill>
          <a:blip r:embed="rId2"/>
          <a:stretch/>
        </p:blipFill>
        <p:spPr>
          <a:xfrm>
            <a:off x="6346080" y="3118680"/>
            <a:ext cx="4663080" cy="2376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5" name="Text 22"/>
          <p:cNvSpPr/>
          <p:nvPr/>
        </p:nvSpPr>
        <p:spPr>
          <a:xfrm>
            <a:off x="6400800" y="5687640"/>
            <a:ext cx="2834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Original Python-generated 95% CI chart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23"/>
          <p:cNvSpPr/>
          <p:nvPr/>
        </p:nvSpPr>
        <p:spPr>
          <a:xfrm>
            <a:off x="749880" y="6144840"/>
            <a:ext cx="10469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2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Welch t = 1.426  •  p = 0.0796 &gt; 0.05  •  observed mean gap = 1.40 percentage points</a:t>
            </a:r>
            <a:endParaRPr b="0" lang="en-US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PlaceHolder 1"/>
          <p:cNvSpPr>
            <a:spLocks noGrp="1"/>
          </p:cNvSpPr>
          <p:nvPr>
            <p:ph type="sldNum" idx="16"/>
          </p:nvPr>
        </p:nvSpPr>
        <p:spPr>
          <a:xfrm>
            <a:off x="11475720" y="647388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8793a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D91FC5-8BC0-400A-8551-58514DE815E1}" type="slidenum">
              <a:rPr b="0" lang="en-US" sz="800" strike="noStrike" u="none">
                <a:solidFill>
                  <a:srgbClr val="8793a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Text 0"/>
          <p:cNvSpPr/>
          <p:nvPr/>
        </p:nvSpPr>
        <p:spPr>
          <a:xfrm>
            <a:off x="685800" y="713160"/>
            <a:ext cx="5943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Across the four tasks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1"/>
          <p:cNvSpPr/>
          <p:nvPr/>
        </p:nvSpPr>
        <p:spPr>
          <a:xfrm>
            <a:off x="713160" y="1307520"/>
            <a:ext cx="7131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c9d4e1"/>
                </a:solidFill>
                <a:effectLst/>
                <a:uFillTx/>
                <a:latin typeface="Arial"/>
                <a:ea typeface="Arial"/>
              </a:rPr>
              <a:t>Only Task 3 crossed the 5% significance threshold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2"/>
          <p:cNvSpPr/>
          <p:nvPr/>
        </p:nvSpPr>
        <p:spPr>
          <a:xfrm>
            <a:off x="7447680" y="1865160"/>
            <a:ext cx="360" cy="3520440"/>
          </a:xfrm>
          <a:prstGeom prst="line">
            <a:avLst/>
          </a:prstGeom>
          <a:ln w="25560">
            <a:solidFill>
              <a:srgbClr val="d5a9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3"/>
          <p:cNvSpPr/>
          <p:nvPr/>
        </p:nvSpPr>
        <p:spPr>
          <a:xfrm>
            <a:off x="7036200" y="1664280"/>
            <a:ext cx="8226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d5a928"/>
                </a:solidFill>
                <a:effectLst/>
                <a:uFillTx/>
                <a:latin typeface="Arial"/>
                <a:ea typeface="Arial"/>
              </a:rPr>
              <a:t>α = 0.05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4"/>
          <p:cNvSpPr/>
          <p:nvPr/>
        </p:nvSpPr>
        <p:spPr>
          <a:xfrm>
            <a:off x="749880" y="2103120"/>
            <a:ext cx="3337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2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Task 1 • Shooting efficiency</a:t>
            </a:r>
            <a:endParaRPr b="0" lang="en-US" sz="12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5"/>
          <p:cNvSpPr/>
          <p:nvPr/>
        </p:nvSpPr>
        <p:spPr>
          <a:xfrm>
            <a:off x="4316040" y="2057400"/>
            <a:ext cx="6263280" cy="347040"/>
          </a:xfrm>
          <a:prstGeom prst="roundRect">
            <a:avLst>
              <a:gd name="adj" fmla="val 10526"/>
            </a:avLst>
          </a:prstGeom>
          <a:solidFill>
            <a:srgbClr val="1d3151"/>
          </a:solidFill>
          <a:ln w="12600">
            <a:solidFill>
              <a:srgbClr val="1d31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6"/>
          <p:cNvSpPr/>
          <p:nvPr/>
        </p:nvSpPr>
        <p:spPr>
          <a:xfrm>
            <a:off x="4316040" y="2057400"/>
            <a:ext cx="6012720" cy="347040"/>
          </a:xfrm>
          <a:prstGeom prst="roundRect">
            <a:avLst>
              <a:gd name="adj" fmla="val 10526"/>
            </a:avLst>
          </a:prstGeom>
          <a:solidFill>
            <a:srgbClr val="2d5b9a"/>
          </a:solidFill>
          <a:ln w="12600">
            <a:solidFill>
              <a:srgbClr val="2d5b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7"/>
          <p:cNvSpPr/>
          <p:nvPr/>
        </p:nvSpPr>
        <p:spPr>
          <a:xfrm>
            <a:off x="10725840" y="2112120"/>
            <a:ext cx="731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 = 0.096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8"/>
          <p:cNvSpPr/>
          <p:nvPr/>
        </p:nvSpPr>
        <p:spPr>
          <a:xfrm>
            <a:off x="749880" y="2944440"/>
            <a:ext cx="3337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2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Task 2 • Fouls per 90</a:t>
            </a:r>
            <a:endParaRPr b="0" lang="en-US" sz="12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9"/>
          <p:cNvSpPr/>
          <p:nvPr/>
        </p:nvSpPr>
        <p:spPr>
          <a:xfrm>
            <a:off x="4316040" y="2898720"/>
            <a:ext cx="6263280" cy="347040"/>
          </a:xfrm>
          <a:prstGeom prst="roundRect">
            <a:avLst>
              <a:gd name="adj" fmla="val 10526"/>
            </a:avLst>
          </a:prstGeom>
          <a:solidFill>
            <a:srgbClr val="1d3151"/>
          </a:solidFill>
          <a:ln w="12600">
            <a:solidFill>
              <a:srgbClr val="1d31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10"/>
          <p:cNvSpPr/>
          <p:nvPr/>
        </p:nvSpPr>
        <p:spPr>
          <a:xfrm>
            <a:off x="4316040" y="2898720"/>
            <a:ext cx="3864240" cy="347040"/>
          </a:xfrm>
          <a:prstGeom prst="roundRect">
            <a:avLst>
              <a:gd name="adj" fmla="val 10526"/>
            </a:avLst>
          </a:prstGeom>
          <a:solidFill>
            <a:srgbClr val="c57733"/>
          </a:solidFill>
          <a:ln w="12600">
            <a:solidFill>
              <a:srgbClr val="c577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11"/>
          <p:cNvSpPr/>
          <p:nvPr/>
        </p:nvSpPr>
        <p:spPr>
          <a:xfrm>
            <a:off x="10725840" y="2953440"/>
            <a:ext cx="731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 = 0.0617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2"/>
          <p:cNvSpPr/>
          <p:nvPr/>
        </p:nvSpPr>
        <p:spPr>
          <a:xfrm>
            <a:off x="749880" y="3785760"/>
            <a:ext cx="3337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2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Task 3 • Save percentage</a:t>
            </a:r>
            <a:endParaRPr b="0" lang="en-US" sz="12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13"/>
          <p:cNvSpPr/>
          <p:nvPr/>
        </p:nvSpPr>
        <p:spPr>
          <a:xfrm>
            <a:off x="4316040" y="3740040"/>
            <a:ext cx="6263280" cy="347040"/>
          </a:xfrm>
          <a:prstGeom prst="roundRect">
            <a:avLst>
              <a:gd name="adj" fmla="val 10526"/>
            </a:avLst>
          </a:prstGeom>
          <a:solidFill>
            <a:srgbClr val="1d3151"/>
          </a:solidFill>
          <a:ln w="12600">
            <a:solidFill>
              <a:srgbClr val="1d31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14"/>
          <p:cNvSpPr/>
          <p:nvPr/>
        </p:nvSpPr>
        <p:spPr>
          <a:xfrm>
            <a:off x="4316040" y="3740040"/>
            <a:ext cx="109440" cy="347040"/>
          </a:xfrm>
          <a:prstGeom prst="roundRect">
            <a:avLst>
              <a:gd name="adj" fmla="val 33333"/>
            </a:avLst>
          </a:prstGeom>
          <a:solidFill>
            <a:srgbClr val="2d7a5d"/>
          </a:solidFill>
          <a:ln w="12600">
            <a:solidFill>
              <a:srgbClr val="2d7a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15"/>
          <p:cNvSpPr/>
          <p:nvPr/>
        </p:nvSpPr>
        <p:spPr>
          <a:xfrm>
            <a:off x="10725840" y="3794760"/>
            <a:ext cx="731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 = &lt; 0.001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16"/>
          <p:cNvSpPr/>
          <p:nvPr/>
        </p:nvSpPr>
        <p:spPr>
          <a:xfrm>
            <a:off x="749880" y="4626720"/>
            <a:ext cx="3337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2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Task 4 • Passing accuracy</a:t>
            </a:r>
            <a:endParaRPr b="0" lang="en-US" sz="12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17"/>
          <p:cNvSpPr/>
          <p:nvPr/>
        </p:nvSpPr>
        <p:spPr>
          <a:xfrm>
            <a:off x="4316040" y="4581000"/>
            <a:ext cx="6263280" cy="347040"/>
          </a:xfrm>
          <a:prstGeom prst="roundRect">
            <a:avLst>
              <a:gd name="adj" fmla="val 10526"/>
            </a:avLst>
          </a:prstGeom>
          <a:solidFill>
            <a:srgbClr val="1d3151"/>
          </a:solidFill>
          <a:ln w="12600">
            <a:solidFill>
              <a:srgbClr val="1d31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18"/>
          <p:cNvSpPr/>
          <p:nvPr/>
        </p:nvSpPr>
        <p:spPr>
          <a:xfrm>
            <a:off x="4316040" y="4581000"/>
            <a:ext cx="4985640" cy="347040"/>
          </a:xfrm>
          <a:prstGeom prst="roundRect">
            <a:avLst>
              <a:gd name="adj" fmla="val 10526"/>
            </a:avLst>
          </a:prstGeom>
          <a:solidFill>
            <a:srgbClr val="6a4c93"/>
          </a:solidFill>
          <a:ln w="12600">
            <a:solidFill>
              <a:srgbClr val="6a4c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19"/>
          <p:cNvSpPr/>
          <p:nvPr/>
        </p:nvSpPr>
        <p:spPr>
          <a:xfrm>
            <a:off x="10725840" y="4636080"/>
            <a:ext cx="731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 = 0.0796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20"/>
          <p:cNvSpPr/>
          <p:nvPr/>
        </p:nvSpPr>
        <p:spPr>
          <a:xfrm>
            <a:off x="749880" y="5623560"/>
            <a:ext cx="10698120" cy="658080"/>
          </a:xfrm>
          <a:prstGeom prst="roundRect">
            <a:avLst>
              <a:gd name="adj" fmla="val 8333"/>
            </a:avLst>
          </a:prstGeom>
          <a:solidFill>
            <a:srgbClr val="16294d"/>
          </a:solidFill>
          <a:ln w="12600">
            <a:solidFill>
              <a:srgbClr val="2a42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21"/>
          <p:cNvSpPr/>
          <p:nvPr/>
        </p:nvSpPr>
        <p:spPr>
          <a:xfrm>
            <a:off x="987480" y="5833800"/>
            <a:ext cx="10195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d8e2ec"/>
                </a:solidFill>
                <a:effectLst/>
                <a:uFillTx/>
                <a:latin typeface="Arial"/>
                <a:ea typeface="Arial"/>
              </a:rPr>
              <a:t>Interpret carefully: “not significant” does not prove “no difference” — it means the available evidence did not meet α = 0.05.</a:t>
            </a:r>
            <a:endParaRPr b="0" lang="en-US" sz="11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PlaceHolder 1"/>
          <p:cNvSpPr>
            <a:spLocks noGrp="1"/>
          </p:cNvSpPr>
          <p:nvPr>
            <p:ph type="sldNum" idx="17"/>
          </p:nvPr>
        </p:nvSpPr>
        <p:spPr>
          <a:xfrm>
            <a:off x="11475720" y="647388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8b99aa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272775-43B7-4BD6-9117-1452EBD9EED1}" type="slidenum">
              <a:rPr b="0" lang="en-US" sz="800" strike="noStrike" u="none">
                <a:solidFill>
                  <a:srgbClr val="8b99aa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Text 0"/>
          <p:cNvSpPr/>
          <p:nvPr/>
        </p:nvSpPr>
        <p:spPr>
          <a:xfrm>
            <a:off x="502920" y="567000"/>
            <a:ext cx="7954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Final synthesis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1"/>
          <p:cNvSpPr/>
          <p:nvPr/>
        </p:nvSpPr>
        <p:spPr>
          <a:xfrm>
            <a:off x="502920" y="1143000"/>
            <a:ext cx="959760" cy="54360"/>
          </a:xfrm>
          <a:prstGeom prst="rect">
            <a:avLst/>
          </a:prstGeom>
          <a:solidFill>
            <a:srgbClr val="1f6e67"/>
          </a:solidFill>
          <a:ln w="12600">
            <a:solidFill>
              <a:srgbClr val="1f6e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2"/>
          <p:cNvSpPr/>
          <p:nvPr/>
        </p:nvSpPr>
        <p:spPr>
          <a:xfrm>
            <a:off x="1572840" y="1042560"/>
            <a:ext cx="9692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What the four analyses collectively show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3"/>
          <p:cNvSpPr/>
          <p:nvPr/>
        </p:nvSpPr>
        <p:spPr>
          <a:xfrm>
            <a:off x="685800" y="1481400"/>
            <a:ext cx="5166000" cy="12340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60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4"/>
          <p:cNvSpPr/>
          <p:nvPr/>
        </p:nvSpPr>
        <p:spPr>
          <a:xfrm>
            <a:off x="685800" y="1481400"/>
            <a:ext cx="82080" cy="1234080"/>
          </a:xfrm>
          <a:prstGeom prst="rect">
            <a:avLst/>
          </a:prstGeom>
          <a:solidFill>
            <a:srgbClr val="2d5b9a"/>
          </a:solidFill>
          <a:ln w="12600">
            <a:solidFill>
              <a:srgbClr val="2d5b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5"/>
          <p:cNvSpPr/>
          <p:nvPr/>
        </p:nvSpPr>
        <p:spPr>
          <a:xfrm>
            <a:off x="941760" y="1645920"/>
            <a:ext cx="223992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2d5b9a"/>
                </a:solidFill>
                <a:effectLst/>
                <a:uFillTx/>
                <a:latin typeface="Arial"/>
                <a:ea typeface="Arial"/>
              </a:rPr>
              <a:t>Shooting efficiency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6"/>
          <p:cNvSpPr/>
          <p:nvPr/>
        </p:nvSpPr>
        <p:spPr>
          <a:xfrm>
            <a:off x="3173040" y="1636920"/>
            <a:ext cx="2331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Matched expectations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7"/>
          <p:cNvSpPr/>
          <p:nvPr/>
        </p:nvSpPr>
        <p:spPr>
          <a:xfrm>
            <a:off x="941760" y="2048400"/>
            <a:ext cx="4525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No significant deviation from xG-based benchmark.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8"/>
          <p:cNvSpPr/>
          <p:nvPr/>
        </p:nvSpPr>
        <p:spPr>
          <a:xfrm>
            <a:off x="6172200" y="1481400"/>
            <a:ext cx="5166000" cy="12340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60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9"/>
          <p:cNvSpPr/>
          <p:nvPr/>
        </p:nvSpPr>
        <p:spPr>
          <a:xfrm>
            <a:off x="6172200" y="1481400"/>
            <a:ext cx="82080" cy="1234080"/>
          </a:xfrm>
          <a:prstGeom prst="rect">
            <a:avLst/>
          </a:prstGeom>
          <a:solidFill>
            <a:srgbClr val="c57733"/>
          </a:solidFill>
          <a:ln w="12600">
            <a:solidFill>
              <a:srgbClr val="c577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10"/>
          <p:cNvSpPr/>
          <p:nvPr/>
        </p:nvSpPr>
        <p:spPr>
          <a:xfrm>
            <a:off x="6428160" y="1645920"/>
            <a:ext cx="223992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c57733"/>
                </a:solidFill>
                <a:effectLst/>
                <a:uFillTx/>
                <a:latin typeface="Arial"/>
                <a:ea typeface="Arial"/>
              </a:rPr>
              <a:t>Disciplinary record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11"/>
          <p:cNvSpPr/>
          <p:nvPr/>
        </p:nvSpPr>
        <p:spPr>
          <a:xfrm>
            <a:off x="8659440" y="1636920"/>
            <a:ext cx="2331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Trend, not proof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12"/>
          <p:cNvSpPr/>
          <p:nvPr/>
        </p:nvSpPr>
        <p:spPr>
          <a:xfrm>
            <a:off x="6428160" y="2048400"/>
            <a:ext cx="4525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Midfielders fouled more numerically, but p = 0.0617.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13"/>
          <p:cNvSpPr/>
          <p:nvPr/>
        </p:nvSpPr>
        <p:spPr>
          <a:xfrm>
            <a:off x="685800" y="2990160"/>
            <a:ext cx="5166000" cy="12340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60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14"/>
          <p:cNvSpPr/>
          <p:nvPr/>
        </p:nvSpPr>
        <p:spPr>
          <a:xfrm>
            <a:off x="685800" y="2990160"/>
            <a:ext cx="82080" cy="1234080"/>
          </a:xfrm>
          <a:prstGeom prst="rect">
            <a:avLst/>
          </a:prstGeom>
          <a:solidFill>
            <a:srgbClr val="2d7a5d"/>
          </a:solidFill>
          <a:ln w="12600">
            <a:solidFill>
              <a:srgbClr val="2d7a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15"/>
          <p:cNvSpPr/>
          <p:nvPr/>
        </p:nvSpPr>
        <p:spPr>
          <a:xfrm>
            <a:off x="941760" y="3154680"/>
            <a:ext cx="223992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2d7a5d"/>
                </a:solidFill>
                <a:effectLst/>
                <a:uFillTx/>
                <a:latin typeface="Arial"/>
                <a:ea typeface="Arial"/>
              </a:rPr>
              <a:t>Goalkeeper save %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16"/>
          <p:cNvSpPr/>
          <p:nvPr/>
        </p:nvSpPr>
        <p:spPr>
          <a:xfrm>
            <a:off x="3173040" y="3145680"/>
            <a:ext cx="2331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Clear difference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17"/>
          <p:cNvSpPr/>
          <p:nvPr/>
        </p:nvSpPr>
        <p:spPr>
          <a:xfrm>
            <a:off x="941760" y="3557160"/>
            <a:ext cx="4525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Average save percentage was significantly below 85%.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18"/>
          <p:cNvSpPr/>
          <p:nvPr/>
        </p:nvSpPr>
        <p:spPr>
          <a:xfrm>
            <a:off x="6172200" y="2990160"/>
            <a:ext cx="5166000" cy="12340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60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19"/>
          <p:cNvSpPr/>
          <p:nvPr/>
        </p:nvSpPr>
        <p:spPr>
          <a:xfrm>
            <a:off x="6172200" y="2990160"/>
            <a:ext cx="82080" cy="1234080"/>
          </a:xfrm>
          <a:prstGeom prst="rect">
            <a:avLst/>
          </a:prstGeom>
          <a:solidFill>
            <a:srgbClr val="6a4c93"/>
          </a:solidFill>
          <a:ln w="12600">
            <a:solidFill>
              <a:srgbClr val="6a4c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20"/>
          <p:cNvSpPr/>
          <p:nvPr/>
        </p:nvSpPr>
        <p:spPr>
          <a:xfrm>
            <a:off x="6428160" y="3154680"/>
            <a:ext cx="223992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6a4c93"/>
                </a:solidFill>
                <a:effectLst/>
                <a:uFillTx/>
                <a:latin typeface="Arial"/>
                <a:ea typeface="Arial"/>
              </a:rPr>
              <a:t>Passing accuracy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21"/>
          <p:cNvSpPr/>
          <p:nvPr/>
        </p:nvSpPr>
        <p:spPr>
          <a:xfrm>
            <a:off x="8659440" y="3145680"/>
            <a:ext cx="2331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Small sample gap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22"/>
          <p:cNvSpPr/>
          <p:nvPr/>
        </p:nvSpPr>
        <p:spPr>
          <a:xfrm>
            <a:off x="6428160" y="3557160"/>
            <a:ext cx="4525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Defenders were 1.40 points higher, but not significant.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23"/>
          <p:cNvSpPr/>
          <p:nvPr/>
        </p:nvSpPr>
        <p:spPr>
          <a:xfrm>
            <a:off x="685800" y="4754880"/>
            <a:ext cx="6629040" cy="1261440"/>
          </a:xfrm>
          <a:prstGeom prst="roundRect">
            <a:avLst>
              <a:gd name="adj" fmla="val 4348"/>
            </a:avLst>
          </a:prstGeom>
          <a:solidFill>
            <a:srgbClr val="e9f5ef"/>
          </a:solidFill>
          <a:ln w="12600">
            <a:solidFill>
              <a:srgbClr val="e9f5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24"/>
          <p:cNvSpPr/>
          <p:nvPr/>
        </p:nvSpPr>
        <p:spPr>
          <a:xfrm>
            <a:off x="932760" y="5001840"/>
            <a:ext cx="2971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d7a5d"/>
                </a:solidFill>
                <a:effectLst/>
                <a:uFillTx/>
                <a:latin typeface="Arial"/>
                <a:ea typeface="Arial"/>
              </a:rPr>
              <a:t>Reproducibility &amp; project evidence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25"/>
          <p:cNvSpPr/>
          <p:nvPr/>
        </p:nvSpPr>
        <p:spPr>
          <a:xfrm>
            <a:off x="932760" y="5358240"/>
            <a:ext cx="58060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Python scripts, cleaned/sample datasets and analysis outputs are maintained in the Group 78 GitHub repository. Full code does not need to crowd the presentation slides.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26"/>
          <p:cNvSpPr/>
          <p:nvPr/>
        </p:nvSpPr>
        <p:spPr>
          <a:xfrm>
            <a:off x="7562160" y="4754880"/>
            <a:ext cx="3657240" cy="12614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60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27"/>
          <p:cNvSpPr/>
          <p:nvPr/>
        </p:nvSpPr>
        <p:spPr>
          <a:xfrm>
            <a:off x="7818120" y="5001840"/>
            <a:ext cx="21942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e2b36"/>
                </a:solidFill>
                <a:effectLst/>
                <a:uFillTx/>
                <a:latin typeface="Arial"/>
                <a:ea typeface="Arial"/>
              </a:rPr>
              <a:t>Primary data sources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28"/>
          <p:cNvSpPr/>
          <p:nvPr/>
        </p:nvSpPr>
        <p:spPr>
          <a:xfrm>
            <a:off x="7818120" y="5376600"/>
            <a:ext cx="2742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FIFA World Cup 2026 statistics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FBref World Cup 2026 statistics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29"/>
          <p:cNvSpPr/>
          <p:nvPr/>
        </p:nvSpPr>
        <p:spPr>
          <a:xfrm>
            <a:off x="713160" y="619956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93a5a"/>
                </a:solidFill>
                <a:effectLst/>
                <a:uFillTx/>
                <a:latin typeface="Arial"/>
                <a:ea typeface="Arial"/>
              </a:rPr>
              <a:t>Thank you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30"/>
          <p:cNvSpPr/>
          <p:nvPr/>
        </p:nvSpPr>
        <p:spPr>
          <a:xfrm>
            <a:off x="2743200" y="6254640"/>
            <a:ext cx="4754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67482"/>
                </a:solidFill>
                <a:effectLst/>
                <a:uFillTx/>
                <a:latin typeface="Arial"/>
                <a:ea typeface="Arial"/>
              </a:rPr>
              <a:t>Group 78 • HIT140 Foundations of Data Science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PlaceHolder 1"/>
          <p:cNvSpPr>
            <a:spLocks noGrp="1"/>
          </p:cNvSpPr>
          <p:nvPr>
            <p:ph type="sldNum" idx="18"/>
          </p:nvPr>
        </p:nvSpPr>
        <p:spPr>
          <a:xfrm>
            <a:off x="11475720" y="647388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8793a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D75BE3-3B3F-4799-907A-A8B5A79D4D23}" type="slidenum">
              <a:rPr b="0" lang="en-US" sz="800" strike="noStrike" u="none">
                <a:solidFill>
                  <a:srgbClr val="8793a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  <Company>Charles Darwin University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2026-09-10T13:01:01Z</dcterms:created>
  <dc:creator>HIT140 Group 78</dc:creator>
  <dc:description/>
  <dc:language>en-US</dc:language>
  <cp:lastModifiedBy>HIT140 Group 78</cp:lastModifiedBy>
  <dcterms:modified xsi:type="dcterms:W3CDTF">2026-09-10T13:01:01Z</dcterms:modified>
  <cp:revision>1</cp:revision>
  <dc:subject>FIFA World Cup 2026 Analytics — Objective 1</dc:subject>
  <dc:title>HIT140 Group 78 — FIFA World Cup 2026 Analytics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13</vt:r8>
  </property>
  <property fmtid="{D5CDD505-2E9C-101B-9397-08002B2CF9AE}" pid="3" name="PresentationFormat">
    <vt:lpwstr>On-screen Show (16:9)</vt:lpwstr>
  </property>
  <property fmtid="{D5CDD505-2E9C-101B-9397-08002B2CF9AE}" pid="4" name="Slides">
    <vt:r8>13</vt:r8>
  </property>
</Properties>
</file>